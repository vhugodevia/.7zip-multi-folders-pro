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8" r:id="rId4"/>
    <p:sldId id="257" r:id="rId5"/>
    <p:sldId id="259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CF2ECA32-6D46-4B05-BA43-37201F4D6186}">
          <p14:sldIdLst>
            <p14:sldId id="256"/>
            <p14:sldId id="264"/>
            <p14:sldId id="258"/>
            <p14:sldId id="257"/>
          </p14:sldIdLst>
        </p14:section>
        <p14:section name="Não assentes em conceitos" id="{2657E74A-64F8-4814-AA17-64E996F925DA}">
          <p14:sldIdLst>
            <p14:sldId id="259"/>
            <p14:sldId id="260"/>
            <p14:sldId id="261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ìtor Hugo Rodrigues Antunes" initials="VHRA" lastIdx="1" clrIdx="0">
    <p:extLst>
      <p:ext uri="{19B8F6BF-5375-455C-9EA6-DF929625EA0E}">
        <p15:presenceInfo xmlns:p15="http://schemas.microsoft.com/office/powerpoint/2012/main" userId="Vìtor Hugo Rodrigues Antun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90554" autoAdjust="0"/>
  </p:normalViewPr>
  <p:slideViewPr>
    <p:cSldViewPr snapToGrid="0">
      <p:cViewPr varScale="1">
        <p:scale>
          <a:sx n="55" d="100"/>
          <a:sy n="55" d="100"/>
        </p:scale>
        <p:origin x="6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B4D0E4-E27C-4902-A2D3-4296F5E9A212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97940272-D52C-4FFA-8F51-9631E7960D23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Provocação</a:t>
          </a:r>
        </a:p>
      </dgm:t>
    </dgm:pt>
    <dgm:pt modelId="{E4C0E1C1-D11C-40C5-B1CA-1D4ED060E478}" type="parTrans" cxnId="{9CA1522A-BACF-47AB-B091-89880D56474E}">
      <dgm:prSet/>
      <dgm:spPr/>
      <dgm:t>
        <a:bodyPr/>
        <a:lstStyle/>
        <a:p>
          <a:endParaRPr lang="pt-PT"/>
        </a:p>
      </dgm:t>
    </dgm:pt>
    <dgm:pt modelId="{95C8542B-9AD4-406F-AA07-D9387719CAB5}" type="sibTrans" cxnId="{9CA1522A-BACF-47AB-B091-89880D56474E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/>
        </a:p>
      </dgm:t>
    </dgm:pt>
    <dgm:pt modelId="{8497F47F-DBDB-4558-AE53-6F20FB004FAF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dirty="0">
              <a:solidFill>
                <a:srgbClr val="C00000"/>
              </a:solidFill>
            </a:rPr>
            <a:t>Ideias criativas</a:t>
          </a:r>
        </a:p>
      </dgm:t>
    </dgm:pt>
    <dgm:pt modelId="{214E4B7C-69D7-49C9-8C21-0363842F692E}" type="parTrans" cxnId="{4623BF3C-2A40-489A-B3B0-EFCA0E552503}">
      <dgm:prSet/>
      <dgm:spPr/>
      <dgm:t>
        <a:bodyPr/>
        <a:lstStyle/>
        <a:p>
          <a:endParaRPr lang="pt-PT"/>
        </a:p>
      </dgm:t>
    </dgm:pt>
    <dgm:pt modelId="{8DB5F892-B904-4F9F-BE3B-AC1B011B47E7}" type="sibTrans" cxnId="{4623BF3C-2A40-489A-B3B0-EFCA0E552503}">
      <dgm:prSet/>
      <dgm:spPr/>
      <dgm:t>
        <a:bodyPr/>
        <a:lstStyle/>
        <a:p>
          <a:endParaRPr lang="pt-PT"/>
        </a:p>
      </dgm:t>
    </dgm:pt>
    <dgm:pt modelId="{3414DB62-2B29-4571-860D-02C4544C3F19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Atenção</a:t>
          </a:r>
        </a:p>
      </dgm:t>
    </dgm:pt>
    <dgm:pt modelId="{AEEBF7A3-D2B3-422F-9876-9C76763E8CC2}" type="parTrans" cxnId="{3EDF0328-92C5-4754-A62B-84A5083EAFF6}">
      <dgm:prSet/>
      <dgm:spPr/>
      <dgm:t>
        <a:bodyPr/>
        <a:lstStyle/>
        <a:p>
          <a:endParaRPr lang="pt-PT"/>
        </a:p>
      </dgm:t>
    </dgm:pt>
    <dgm:pt modelId="{5F322773-C12A-4D4B-A97E-3DE09438A19E}" type="sibTrans" cxnId="{3EDF0328-92C5-4754-A62B-84A5083EAFF6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/>
        </a:p>
      </dgm:t>
    </dgm:pt>
    <dgm:pt modelId="{1E144AA4-5430-474A-A985-0D0770544D78}">
      <dgm:prSet phldrT="[Texto]"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pt-PT" b="1" dirty="0">
              <a:solidFill>
                <a:schemeClr val="tx1"/>
              </a:solidFill>
            </a:rPr>
            <a:t>Evasão</a:t>
          </a:r>
        </a:p>
      </dgm:t>
    </dgm:pt>
    <dgm:pt modelId="{E59671DA-DA89-47DC-96B4-70D818ED9677}" type="parTrans" cxnId="{7A64445D-82D3-4905-9CF7-B536C067478A}">
      <dgm:prSet/>
      <dgm:spPr/>
      <dgm:t>
        <a:bodyPr/>
        <a:lstStyle/>
        <a:p>
          <a:endParaRPr lang="pt-PT"/>
        </a:p>
      </dgm:t>
    </dgm:pt>
    <dgm:pt modelId="{E08A12B8-C87F-42EF-A77D-D1E30A8DFA09}" type="sibTrans" cxnId="{7A64445D-82D3-4905-9CF7-B536C067478A}">
      <dgm:prSet/>
      <dgm:spPr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endParaRPr lang="pt-PT"/>
        </a:p>
      </dgm:t>
    </dgm:pt>
    <dgm:pt modelId="{E67A5869-885B-4EDB-854E-ACB5797DAFE7}" type="pres">
      <dgm:prSet presAssocID="{C3B4D0E4-E27C-4902-A2D3-4296F5E9A212}" presName="Name0" presStyleCnt="0">
        <dgm:presLayoutVars>
          <dgm:dir/>
          <dgm:resizeHandles val="exact"/>
        </dgm:presLayoutVars>
      </dgm:prSet>
      <dgm:spPr/>
    </dgm:pt>
    <dgm:pt modelId="{6C1C676B-A54B-4C18-82EC-AC978A1810F6}" type="pres">
      <dgm:prSet presAssocID="{97940272-D52C-4FFA-8F51-9631E7960D23}" presName="node" presStyleLbl="node1" presStyleIdx="0" presStyleCnt="4">
        <dgm:presLayoutVars>
          <dgm:bulletEnabled val="1"/>
        </dgm:presLayoutVars>
      </dgm:prSet>
      <dgm:spPr/>
    </dgm:pt>
    <dgm:pt modelId="{56D59C76-14C3-42AC-B073-8CDCF7BE5A3F}" type="pres">
      <dgm:prSet presAssocID="{95C8542B-9AD4-406F-AA07-D9387719CAB5}" presName="sibTrans" presStyleLbl="sibTrans2D1" presStyleIdx="0" presStyleCnt="4" custAng="1237576" custScaleX="144388" custScaleY="81215" custLinFactX="-11379" custLinFactNeighborX="-100000" custLinFactNeighborY="-9481"/>
      <dgm:spPr>
        <a:prstGeom prst="rightArrow">
          <a:avLst/>
        </a:prstGeom>
      </dgm:spPr>
    </dgm:pt>
    <dgm:pt modelId="{9DCBE86B-DC60-4FF2-AF19-88CD62CB00F3}" type="pres">
      <dgm:prSet presAssocID="{95C8542B-9AD4-406F-AA07-D9387719CAB5}" presName="connectorText" presStyleLbl="sibTrans2D1" presStyleIdx="0" presStyleCnt="4"/>
      <dgm:spPr/>
    </dgm:pt>
    <dgm:pt modelId="{4AF1CB2F-2491-4628-9581-B91018B52314}" type="pres">
      <dgm:prSet presAssocID="{8497F47F-DBDB-4558-AE53-6F20FB004FAF}" presName="node" presStyleLbl="node1" presStyleIdx="1" presStyleCnt="4" custRadScaleRad="239371" custRadScaleInc="-1866">
        <dgm:presLayoutVars>
          <dgm:bulletEnabled val="1"/>
        </dgm:presLayoutVars>
      </dgm:prSet>
      <dgm:spPr/>
    </dgm:pt>
    <dgm:pt modelId="{DC0D4CA3-BDAD-4BA1-B4B2-23D08EDC1278}" type="pres">
      <dgm:prSet presAssocID="{8DB5F892-B904-4F9F-BE3B-AC1B011B47E7}" presName="sibTrans" presStyleLbl="sibTrans2D1" presStyleIdx="1" presStyleCnt="4"/>
      <dgm:spPr/>
    </dgm:pt>
    <dgm:pt modelId="{20B6963C-5725-4DF6-9A5E-772DEC90BD4E}" type="pres">
      <dgm:prSet presAssocID="{8DB5F892-B904-4F9F-BE3B-AC1B011B47E7}" presName="connectorText" presStyleLbl="sibTrans2D1" presStyleIdx="1" presStyleCnt="4"/>
      <dgm:spPr/>
    </dgm:pt>
    <dgm:pt modelId="{50D21886-7B84-4C44-A524-48A6A5A91292}" type="pres">
      <dgm:prSet presAssocID="{3414DB62-2B29-4571-860D-02C4544C3F19}" presName="node" presStyleLbl="node1" presStyleIdx="2" presStyleCnt="4" custRadScaleRad="207508" custRadScaleInc="199049">
        <dgm:presLayoutVars>
          <dgm:bulletEnabled val="1"/>
        </dgm:presLayoutVars>
      </dgm:prSet>
      <dgm:spPr/>
    </dgm:pt>
    <dgm:pt modelId="{F3FD9F6A-D3D8-464C-83D9-58F65DA66A54}" type="pres">
      <dgm:prSet presAssocID="{5F322773-C12A-4D4B-A97E-3DE09438A19E}" presName="sibTrans" presStyleLbl="sibTrans2D1" presStyleIdx="2" presStyleCnt="4" custAng="38156" custScaleX="314746" custScaleY="223225" custLinFactX="289761" custLinFactNeighborX="300000" custLinFactNeighborY="-2175"/>
      <dgm:spPr/>
    </dgm:pt>
    <dgm:pt modelId="{5AB2BAB2-A15D-4AEA-A474-48167F877D07}" type="pres">
      <dgm:prSet presAssocID="{5F322773-C12A-4D4B-A97E-3DE09438A19E}" presName="connectorText" presStyleLbl="sibTrans2D1" presStyleIdx="2" presStyleCnt="4"/>
      <dgm:spPr/>
    </dgm:pt>
    <dgm:pt modelId="{3862440A-54F9-4100-8F51-11E7BF44AB8D}" type="pres">
      <dgm:prSet presAssocID="{1E144AA4-5430-474A-A985-0D0770544D78}" presName="node" presStyleLbl="node1" presStyleIdx="3" presStyleCnt="4" custRadScaleRad="847" custRadScaleInc="259058">
        <dgm:presLayoutVars>
          <dgm:bulletEnabled val="1"/>
        </dgm:presLayoutVars>
      </dgm:prSet>
      <dgm:spPr/>
    </dgm:pt>
    <dgm:pt modelId="{3DFE09FE-4E7E-4BED-A14F-50FB3A21D6A7}" type="pres">
      <dgm:prSet presAssocID="{E08A12B8-C87F-42EF-A77D-D1E30A8DFA09}" presName="sibTrans" presStyleLbl="sibTrans2D1" presStyleIdx="3" presStyleCnt="4" custAng="2367705" custScaleX="132541" custScaleY="94309" custLinFactX="-100000" custLinFactNeighborX="-106116" custLinFactNeighborY="-12652"/>
      <dgm:spPr>
        <a:prstGeom prst="leftArrow">
          <a:avLst/>
        </a:prstGeom>
      </dgm:spPr>
    </dgm:pt>
    <dgm:pt modelId="{C80700A4-7B2C-4FCC-B2E8-60F886DEC46A}" type="pres">
      <dgm:prSet presAssocID="{E08A12B8-C87F-42EF-A77D-D1E30A8DFA09}" presName="connectorText" presStyleLbl="sibTrans2D1" presStyleIdx="3" presStyleCnt="4"/>
      <dgm:spPr/>
    </dgm:pt>
  </dgm:ptLst>
  <dgm:cxnLst>
    <dgm:cxn modelId="{B370E811-A202-4892-A244-7A8573A9B0DC}" type="presOf" srcId="{8497F47F-DBDB-4558-AE53-6F20FB004FAF}" destId="{4AF1CB2F-2491-4628-9581-B91018B52314}" srcOrd="0" destOrd="0" presId="urn:microsoft.com/office/officeart/2005/8/layout/cycle7"/>
    <dgm:cxn modelId="{3EDF0328-92C5-4754-A62B-84A5083EAFF6}" srcId="{C3B4D0E4-E27C-4902-A2D3-4296F5E9A212}" destId="{3414DB62-2B29-4571-860D-02C4544C3F19}" srcOrd="2" destOrd="0" parTransId="{AEEBF7A3-D2B3-422F-9876-9C76763E8CC2}" sibTransId="{5F322773-C12A-4D4B-A97E-3DE09438A19E}"/>
    <dgm:cxn modelId="{9CA1522A-BACF-47AB-B091-89880D56474E}" srcId="{C3B4D0E4-E27C-4902-A2D3-4296F5E9A212}" destId="{97940272-D52C-4FFA-8F51-9631E7960D23}" srcOrd="0" destOrd="0" parTransId="{E4C0E1C1-D11C-40C5-B1CA-1D4ED060E478}" sibTransId="{95C8542B-9AD4-406F-AA07-D9387719CAB5}"/>
    <dgm:cxn modelId="{4623BF3C-2A40-489A-B3B0-EFCA0E552503}" srcId="{C3B4D0E4-E27C-4902-A2D3-4296F5E9A212}" destId="{8497F47F-DBDB-4558-AE53-6F20FB004FAF}" srcOrd="1" destOrd="0" parTransId="{214E4B7C-69D7-49C9-8C21-0363842F692E}" sibTransId="{8DB5F892-B904-4F9F-BE3B-AC1B011B47E7}"/>
    <dgm:cxn modelId="{7A64445D-82D3-4905-9CF7-B536C067478A}" srcId="{C3B4D0E4-E27C-4902-A2D3-4296F5E9A212}" destId="{1E144AA4-5430-474A-A985-0D0770544D78}" srcOrd="3" destOrd="0" parTransId="{E59671DA-DA89-47DC-96B4-70D818ED9677}" sibTransId="{E08A12B8-C87F-42EF-A77D-D1E30A8DFA09}"/>
    <dgm:cxn modelId="{8A048067-052B-4E06-A4AA-42BD399B7D23}" type="presOf" srcId="{E08A12B8-C87F-42EF-A77D-D1E30A8DFA09}" destId="{3DFE09FE-4E7E-4BED-A14F-50FB3A21D6A7}" srcOrd="0" destOrd="0" presId="urn:microsoft.com/office/officeart/2005/8/layout/cycle7"/>
    <dgm:cxn modelId="{64D8C04D-C9D8-45F9-B04E-EC5F679AC7ED}" type="presOf" srcId="{1E144AA4-5430-474A-A985-0D0770544D78}" destId="{3862440A-54F9-4100-8F51-11E7BF44AB8D}" srcOrd="0" destOrd="0" presId="urn:microsoft.com/office/officeart/2005/8/layout/cycle7"/>
    <dgm:cxn modelId="{0226134F-A4F8-4D00-BDD6-85CDCB395830}" type="presOf" srcId="{5F322773-C12A-4D4B-A97E-3DE09438A19E}" destId="{F3FD9F6A-D3D8-464C-83D9-58F65DA66A54}" srcOrd="0" destOrd="0" presId="urn:microsoft.com/office/officeart/2005/8/layout/cycle7"/>
    <dgm:cxn modelId="{63C01A73-67E4-4020-827A-E3BC007E928F}" type="presOf" srcId="{97940272-D52C-4FFA-8F51-9631E7960D23}" destId="{6C1C676B-A54B-4C18-82EC-AC978A1810F6}" srcOrd="0" destOrd="0" presId="urn:microsoft.com/office/officeart/2005/8/layout/cycle7"/>
    <dgm:cxn modelId="{A7C7DA8B-73A3-4D56-AD3A-90D2E774B38B}" type="presOf" srcId="{5F322773-C12A-4D4B-A97E-3DE09438A19E}" destId="{5AB2BAB2-A15D-4AEA-A474-48167F877D07}" srcOrd="1" destOrd="0" presId="urn:microsoft.com/office/officeart/2005/8/layout/cycle7"/>
    <dgm:cxn modelId="{2553EEA3-4F92-4184-872A-16995995CBC7}" type="presOf" srcId="{95C8542B-9AD4-406F-AA07-D9387719CAB5}" destId="{56D59C76-14C3-42AC-B073-8CDCF7BE5A3F}" srcOrd="0" destOrd="0" presId="urn:microsoft.com/office/officeart/2005/8/layout/cycle7"/>
    <dgm:cxn modelId="{607E35BE-D281-4AB7-A061-24009178A349}" type="presOf" srcId="{3414DB62-2B29-4571-860D-02C4544C3F19}" destId="{50D21886-7B84-4C44-A524-48A6A5A91292}" srcOrd="0" destOrd="0" presId="urn:microsoft.com/office/officeart/2005/8/layout/cycle7"/>
    <dgm:cxn modelId="{513CBBC2-AF9C-4566-8740-E0D612F833B7}" type="presOf" srcId="{E08A12B8-C87F-42EF-A77D-D1E30A8DFA09}" destId="{C80700A4-7B2C-4FCC-B2E8-60F886DEC46A}" srcOrd="1" destOrd="0" presId="urn:microsoft.com/office/officeart/2005/8/layout/cycle7"/>
    <dgm:cxn modelId="{5F9B9CC7-FF18-4286-9435-73F0DCA5E994}" type="presOf" srcId="{8DB5F892-B904-4F9F-BE3B-AC1B011B47E7}" destId="{DC0D4CA3-BDAD-4BA1-B4B2-23D08EDC1278}" srcOrd="0" destOrd="0" presId="urn:microsoft.com/office/officeart/2005/8/layout/cycle7"/>
    <dgm:cxn modelId="{184C97CC-43CF-46B6-BE3E-0CE6E44235FD}" type="presOf" srcId="{95C8542B-9AD4-406F-AA07-D9387719CAB5}" destId="{9DCBE86B-DC60-4FF2-AF19-88CD62CB00F3}" srcOrd="1" destOrd="0" presId="urn:microsoft.com/office/officeart/2005/8/layout/cycle7"/>
    <dgm:cxn modelId="{132EC4E7-AA3A-4CEA-8DFB-0FC71B690E32}" type="presOf" srcId="{C3B4D0E4-E27C-4902-A2D3-4296F5E9A212}" destId="{E67A5869-885B-4EDB-854E-ACB5797DAFE7}" srcOrd="0" destOrd="0" presId="urn:microsoft.com/office/officeart/2005/8/layout/cycle7"/>
    <dgm:cxn modelId="{78BA32E9-72AC-4C6E-9B57-ACDCC1C94044}" type="presOf" srcId="{8DB5F892-B904-4F9F-BE3B-AC1B011B47E7}" destId="{20B6963C-5725-4DF6-9A5E-772DEC90BD4E}" srcOrd="1" destOrd="0" presId="urn:microsoft.com/office/officeart/2005/8/layout/cycle7"/>
    <dgm:cxn modelId="{8362499C-2E50-48C9-BDCB-70611F481223}" type="presParOf" srcId="{E67A5869-885B-4EDB-854E-ACB5797DAFE7}" destId="{6C1C676B-A54B-4C18-82EC-AC978A1810F6}" srcOrd="0" destOrd="0" presId="urn:microsoft.com/office/officeart/2005/8/layout/cycle7"/>
    <dgm:cxn modelId="{46BBDDEA-CE01-4456-8242-E6826091D079}" type="presParOf" srcId="{E67A5869-885B-4EDB-854E-ACB5797DAFE7}" destId="{56D59C76-14C3-42AC-B073-8CDCF7BE5A3F}" srcOrd="1" destOrd="0" presId="urn:microsoft.com/office/officeart/2005/8/layout/cycle7"/>
    <dgm:cxn modelId="{16945CB2-9032-4265-A0F8-E7A99CE73406}" type="presParOf" srcId="{56D59C76-14C3-42AC-B073-8CDCF7BE5A3F}" destId="{9DCBE86B-DC60-4FF2-AF19-88CD62CB00F3}" srcOrd="0" destOrd="0" presId="urn:microsoft.com/office/officeart/2005/8/layout/cycle7"/>
    <dgm:cxn modelId="{A410EF70-9E9F-4FC9-A903-4BADBDB72217}" type="presParOf" srcId="{E67A5869-885B-4EDB-854E-ACB5797DAFE7}" destId="{4AF1CB2F-2491-4628-9581-B91018B52314}" srcOrd="2" destOrd="0" presId="urn:microsoft.com/office/officeart/2005/8/layout/cycle7"/>
    <dgm:cxn modelId="{8379A6FD-B193-44CC-80AF-36A5AC2B43E4}" type="presParOf" srcId="{E67A5869-885B-4EDB-854E-ACB5797DAFE7}" destId="{DC0D4CA3-BDAD-4BA1-B4B2-23D08EDC1278}" srcOrd="3" destOrd="0" presId="urn:microsoft.com/office/officeart/2005/8/layout/cycle7"/>
    <dgm:cxn modelId="{0954A1A9-2E79-4DBF-88B2-48BE1EEFD2F6}" type="presParOf" srcId="{DC0D4CA3-BDAD-4BA1-B4B2-23D08EDC1278}" destId="{20B6963C-5725-4DF6-9A5E-772DEC90BD4E}" srcOrd="0" destOrd="0" presId="urn:microsoft.com/office/officeart/2005/8/layout/cycle7"/>
    <dgm:cxn modelId="{C1E47924-DD59-4F93-B86D-D62A46DFD1DE}" type="presParOf" srcId="{E67A5869-885B-4EDB-854E-ACB5797DAFE7}" destId="{50D21886-7B84-4C44-A524-48A6A5A91292}" srcOrd="4" destOrd="0" presId="urn:microsoft.com/office/officeart/2005/8/layout/cycle7"/>
    <dgm:cxn modelId="{667E4DEB-54D1-4F54-A8C6-5CDA171D69FF}" type="presParOf" srcId="{E67A5869-885B-4EDB-854E-ACB5797DAFE7}" destId="{F3FD9F6A-D3D8-464C-83D9-58F65DA66A54}" srcOrd="5" destOrd="0" presId="urn:microsoft.com/office/officeart/2005/8/layout/cycle7"/>
    <dgm:cxn modelId="{1171013A-4F7B-4809-B2CD-E305771EE92D}" type="presParOf" srcId="{F3FD9F6A-D3D8-464C-83D9-58F65DA66A54}" destId="{5AB2BAB2-A15D-4AEA-A474-48167F877D07}" srcOrd="0" destOrd="0" presId="urn:microsoft.com/office/officeart/2005/8/layout/cycle7"/>
    <dgm:cxn modelId="{E90E1A6C-9C26-4F92-98B6-2FA7CF34AD23}" type="presParOf" srcId="{E67A5869-885B-4EDB-854E-ACB5797DAFE7}" destId="{3862440A-54F9-4100-8F51-11E7BF44AB8D}" srcOrd="6" destOrd="0" presId="urn:microsoft.com/office/officeart/2005/8/layout/cycle7"/>
    <dgm:cxn modelId="{A8213432-FAFE-4163-9E79-41B44A74A69D}" type="presParOf" srcId="{E67A5869-885B-4EDB-854E-ACB5797DAFE7}" destId="{3DFE09FE-4E7E-4BED-A14F-50FB3A21D6A7}" srcOrd="7" destOrd="0" presId="urn:microsoft.com/office/officeart/2005/8/layout/cycle7"/>
    <dgm:cxn modelId="{B591AA2A-C288-45AF-AD5E-6E81F6A2C33B}" type="presParOf" srcId="{3DFE09FE-4E7E-4BED-A14F-50FB3A21D6A7}" destId="{C80700A4-7B2C-4FCC-B2E8-60F886DEC46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C676B-A54B-4C18-82EC-AC978A1810F6}">
      <dsp:nvSpPr>
        <dsp:cNvPr id="0" name=""/>
        <dsp:cNvSpPr/>
      </dsp:nvSpPr>
      <dsp:spPr>
        <a:xfrm>
          <a:off x="4677889" y="2700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Provocação</a:t>
          </a:r>
        </a:p>
      </dsp:txBody>
      <dsp:txXfrm>
        <a:off x="4705019" y="29830"/>
        <a:ext cx="1798288" cy="872014"/>
      </dsp:txXfrm>
    </dsp:sp>
    <dsp:sp modelId="{56D59C76-14C3-42AC-B073-8CDCF7BE5A3F}">
      <dsp:nvSpPr>
        <dsp:cNvPr id="0" name=""/>
        <dsp:cNvSpPr/>
      </dsp:nvSpPr>
      <dsp:spPr>
        <a:xfrm rot="2554985">
          <a:off x="6500726" y="1161555"/>
          <a:ext cx="968969" cy="263295"/>
        </a:xfrm>
        <a:prstGeom prst="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100" kern="1200"/>
        </a:p>
      </dsp:txBody>
      <dsp:txXfrm>
        <a:off x="6579715" y="1214214"/>
        <a:ext cx="810992" cy="157977"/>
      </dsp:txXfrm>
    </dsp:sp>
    <dsp:sp modelId="{4AF1CB2F-2491-4628-9581-B91018B52314}">
      <dsp:nvSpPr>
        <dsp:cNvPr id="0" name=""/>
        <dsp:cNvSpPr/>
      </dsp:nvSpPr>
      <dsp:spPr>
        <a:xfrm>
          <a:off x="8934884" y="171890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kern="1200" dirty="0">
              <a:solidFill>
                <a:srgbClr val="C00000"/>
              </a:solidFill>
            </a:rPr>
            <a:t>Ideias criativas</a:t>
          </a:r>
        </a:p>
      </dsp:txBody>
      <dsp:txXfrm>
        <a:off x="8962014" y="1746036"/>
        <a:ext cx="1798288" cy="872014"/>
      </dsp:txXfrm>
    </dsp:sp>
    <dsp:sp modelId="{DC0D4CA3-BDAD-4BA1-B4B2-23D08EDC1278}">
      <dsp:nvSpPr>
        <dsp:cNvPr id="0" name=""/>
        <dsp:cNvSpPr/>
      </dsp:nvSpPr>
      <dsp:spPr>
        <a:xfrm rot="10761090">
          <a:off x="5551800" y="2064925"/>
          <a:ext cx="671087" cy="324195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/>
        </a:p>
      </dsp:txBody>
      <dsp:txXfrm rot="10800000">
        <a:off x="5649058" y="2129764"/>
        <a:ext cx="476570" cy="194517"/>
      </dsp:txXfrm>
    </dsp:sp>
    <dsp:sp modelId="{50D21886-7B84-4C44-A524-48A6A5A91292}">
      <dsp:nvSpPr>
        <dsp:cNvPr id="0" name=""/>
        <dsp:cNvSpPr/>
      </dsp:nvSpPr>
      <dsp:spPr>
        <a:xfrm>
          <a:off x="987255" y="180886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Atenção</a:t>
          </a:r>
        </a:p>
      </dsp:txBody>
      <dsp:txXfrm>
        <a:off x="1014385" y="1835996"/>
        <a:ext cx="1798288" cy="872014"/>
      </dsp:txXfrm>
    </dsp:sp>
    <dsp:sp modelId="{F3FD9F6A-D3D8-464C-83D9-58F65DA66A54}">
      <dsp:nvSpPr>
        <dsp:cNvPr id="0" name=""/>
        <dsp:cNvSpPr/>
      </dsp:nvSpPr>
      <dsp:spPr>
        <a:xfrm rot="21600000">
          <a:off x="6663916" y="1882589"/>
          <a:ext cx="2112219" cy="723686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700" kern="1200"/>
        </a:p>
      </dsp:txBody>
      <dsp:txXfrm rot="-21600000">
        <a:off x="6881022" y="2027326"/>
        <a:ext cx="1678007" cy="434212"/>
      </dsp:txXfrm>
    </dsp:sp>
    <dsp:sp modelId="{3862440A-54F9-4100-8F51-11E7BF44AB8D}">
      <dsp:nvSpPr>
        <dsp:cNvPr id="0" name=""/>
        <dsp:cNvSpPr/>
      </dsp:nvSpPr>
      <dsp:spPr>
        <a:xfrm>
          <a:off x="4684629" y="1767826"/>
          <a:ext cx="1852548" cy="9262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100" b="1" kern="1200" dirty="0">
              <a:solidFill>
                <a:schemeClr val="tx1"/>
              </a:solidFill>
            </a:rPr>
            <a:t>Evasão</a:t>
          </a:r>
        </a:p>
      </dsp:txBody>
      <dsp:txXfrm>
        <a:off x="4711759" y="1794956"/>
        <a:ext cx="1798288" cy="872014"/>
      </dsp:txXfrm>
    </dsp:sp>
    <dsp:sp modelId="{3DFE09FE-4E7E-4BED-A14F-50FB3A21D6A7}">
      <dsp:nvSpPr>
        <dsp:cNvPr id="0" name=""/>
        <dsp:cNvSpPr/>
      </dsp:nvSpPr>
      <dsp:spPr>
        <a:xfrm rot="18554579">
          <a:off x="3779582" y="1154510"/>
          <a:ext cx="889465" cy="305745"/>
        </a:xfrm>
        <a:prstGeom prst="lef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5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1300" kern="1200"/>
        </a:p>
      </dsp:txBody>
      <dsp:txXfrm rot="10800000">
        <a:off x="3871306" y="1215659"/>
        <a:ext cx="706018" cy="1834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A4A31-E6BA-40ED-A9A6-00C1D60EAFDC}" type="datetimeFigureOut">
              <a:rPr lang="pt-PT" smtClean="0"/>
              <a:t>22-10-2019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A5C55-0354-43FB-8806-721F48A1218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553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Janela aberta c/ bom tempo - acolher fornecedores cumpridores</a:t>
            </a:r>
          </a:p>
          <a:p>
            <a:r>
              <a:rPr lang="pt-PT" dirty="0"/>
              <a:t>Janela fechada c/ mão tempo – cessação de encomendas aos fornecedores reincidentes em falhas</a:t>
            </a:r>
          </a:p>
          <a:p>
            <a:r>
              <a:rPr lang="pt-PT" dirty="0"/>
              <a:t>Janelas de vários tipos – contratos de várias índoles com diferentes fornecedores</a:t>
            </a:r>
          </a:p>
          <a:p>
            <a:r>
              <a:rPr lang="pt-PT" dirty="0"/>
              <a:t>Janelas baixas risco de assalto – é necessário criar grades de proteção, isto é,  clausulas contratuais que penalizem fornecedores por incumprimento de prazos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A5C55-0354-43FB-8806-721F48A1218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589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10/21/2019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061" y="1241266"/>
            <a:ext cx="5428551" cy="315375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PT" sz="46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TesP</a:t>
            </a:r>
            <a:r>
              <a:rPr lang="pt-PT" sz="4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pt-PT" sz="4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sz="4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Projeto de moldes</a:t>
            </a:r>
            <a:br>
              <a:rPr lang="pt-PT" sz="4600" dirty="0"/>
            </a:br>
            <a:br>
              <a:rPr lang="pt-PT" sz="4600" dirty="0"/>
            </a:br>
            <a:r>
              <a:rPr lang="pt-PT" sz="4600" b="1" dirty="0"/>
              <a:t>CTI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C735A3-7020-44F6-A586-57A9C543C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061" y="4591665"/>
            <a:ext cx="5428551" cy="1622322"/>
          </a:xfrm>
        </p:spPr>
        <p:txBody>
          <a:bodyPr>
            <a:normAutofit/>
          </a:bodyPr>
          <a:lstStyle/>
          <a:p>
            <a:r>
              <a:rPr lang="pt-PT" cap="none" dirty="0"/>
              <a:t>Diogo Morgado</a:t>
            </a:r>
          </a:p>
          <a:p>
            <a:r>
              <a:rPr lang="pt-PT" cap="none" dirty="0"/>
              <a:t>Hugo Pereira</a:t>
            </a:r>
          </a:p>
          <a:p>
            <a:r>
              <a:rPr lang="pt-PT" cap="none" dirty="0"/>
              <a:t>Vitor Hugo Antunes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1026" name="Picture 2" descr="Resultado de imagem para estg">
            <a:extLst>
              <a:ext uri="{FF2B5EF4-FFF2-40B4-BE49-F238E27FC236}">
                <a16:creationId xmlns:a16="http://schemas.microsoft.com/office/drawing/2014/main" id="{B1B367D0-0DF8-420F-A100-C39868530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35" y="1"/>
            <a:ext cx="2718252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78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Pensamento Criativo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C735A3-7020-44F6-A586-57A9C543C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Ferramentas de fomento</a:t>
            </a:r>
          </a:p>
        </p:txBody>
      </p:sp>
    </p:spTree>
    <p:extLst>
      <p:ext uri="{BB962C8B-B14F-4D97-AF65-F5344CB8AC3E}">
        <p14:creationId xmlns:p14="http://schemas.microsoft.com/office/powerpoint/2010/main" val="18959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D27ED-A162-4578-A630-3FB87F55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714727"/>
            <a:ext cx="8825658" cy="1466145"/>
          </a:xfrm>
        </p:spPr>
        <p:txBody>
          <a:bodyPr/>
          <a:lstStyle/>
          <a:p>
            <a:pPr algn="ctr"/>
            <a:r>
              <a:rPr lang="pt-PT" dirty="0"/>
              <a:t>Ferramentas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C735A3-7020-44F6-A586-57A9C543C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567580"/>
            <a:ext cx="8825658" cy="861420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/>
              <a:t>USADAS COMO APOIO AO BRAIMSTORM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P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dirty="0"/>
              <a:t>USADAS ISOLADAMENTE</a:t>
            </a:r>
          </a:p>
        </p:txBody>
      </p:sp>
    </p:spTree>
    <p:extLst>
      <p:ext uri="{BB962C8B-B14F-4D97-AF65-F5344CB8AC3E}">
        <p14:creationId xmlns:p14="http://schemas.microsoft.com/office/powerpoint/2010/main" val="300391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F1680-DACD-42C6-9D43-9EC6674C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USADAS ISOLADAMENTE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7B3E07-5E35-4891-8977-3ADADD1F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3269593"/>
            <a:ext cx="8825659" cy="24765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PT" dirty="0"/>
              <a:t> MOSTRA</a:t>
            </a:r>
          </a:p>
        </p:txBody>
      </p:sp>
    </p:spTree>
    <p:extLst>
      <p:ext uri="{BB962C8B-B14F-4D97-AF65-F5344CB8AC3E}">
        <p14:creationId xmlns:p14="http://schemas.microsoft.com/office/powerpoint/2010/main" val="74099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5"/>
            <a:ext cx="9707010" cy="25781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PT" sz="2400" dirty="0"/>
              <a:t>Palavras retiradas ao acaso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Procurar conexão entre as palavras e o assunto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Registar todas as ideias, sem qualquer julgamento ou critica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Palavras aleatórias</a:t>
            </a:r>
          </a:p>
        </p:txBody>
      </p:sp>
    </p:spTree>
    <p:extLst>
      <p:ext uri="{BB962C8B-B14F-4D97-AF65-F5344CB8AC3E}">
        <p14:creationId xmlns:p14="http://schemas.microsoft.com/office/powerpoint/2010/main" val="384440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6"/>
            <a:ext cx="9707010" cy="24051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Problema  </a:t>
            </a:r>
            <a:r>
              <a:rPr lang="pt-PT" sz="2400" u="sng" dirty="0"/>
              <a:t>Má relação com fornecedores </a:t>
            </a:r>
            <a:r>
              <a:rPr lang="pt-PT" sz="2400" b="1" dirty="0"/>
              <a:t>(atenção) 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Palavra escolhida </a:t>
            </a:r>
            <a:r>
              <a:rPr lang="pt-PT" sz="2400" u="sng" dirty="0"/>
              <a:t>Janela</a:t>
            </a:r>
            <a:r>
              <a:rPr lang="pt-PT" sz="2400" dirty="0"/>
              <a:t>  </a:t>
            </a:r>
            <a:r>
              <a:rPr lang="pt-PT" sz="2400" b="1" dirty="0"/>
              <a:t>(evasão/fuga)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Ideias relacionando a palavra e o problema  </a:t>
            </a:r>
            <a:r>
              <a:rPr lang="pt-PT" sz="2400" b="1" dirty="0"/>
              <a:t>(movimento) </a:t>
            </a:r>
          </a:p>
          <a:p>
            <a:pPr>
              <a:lnSpc>
                <a:spcPct val="150000"/>
              </a:lnSpc>
            </a:pPr>
            <a:endParaRPr lang="pt-PT" sz="2400" b="1" u="sng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2875365" y="1191682"/>
            <a:ext cx="672583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Palavras aleatórias</a:t>
            </a:r>
          </a:p>
        </p:txBody>
      </p:sp>
    </p:spTree>
    <p:extLst>
      <p:ext uri="{BB962C8B-B14F-4D97-AF65-F5344CB8AC3E}">
        <p14:creationId xmlns:p14="http://schemas.microsoft.com/office/powerpoint/2010/main" val="138259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2507673"/>
            <a:ext cx="9707010" cy="46828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Listar as premissas, regras, normas ou aspetos dados como certos na atual situação </a:t>
            </a:r>
            <a:r>
              <a:rPr lang="pt-PT" sz="2400" b="1" dirty="0"/>
              <a:t>(atenção)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Através de uma </a:t>
            </a:r>
            <a:r>
              <a:rPr lang="pt-PT" sz="2400" b="1" dirty="0"/>
              <a:t>provocação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Admitir que a situação atual pode ser alterada </a:t>
            </a:r>
            <a:r>
              <a:rPr lang="pt-PT" sz="2400" b="1" dirty="0"/>
              <a:t>(evasão)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Através da mesma </a:t>
            </a:r>
            <a:r>
              <a:rPr lang="pt-PT" sz="2400" b="1" dirty="0"/>
              <a:t>provocação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Geração de ideias </a:t>
            </a:r>
            <a:r>
              <a:rPr lang="pt-PT" sz="2400" b="1" dirty="0"/>
              <a:t>(movimento)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Rompimento das regras</a:t>
            </a:r>
          </a:p>
        </p:txBody>
      </p:sp>
    </p:spTree>
    <p:extLst>
      <p:ext uri="{BB962C8B-B14F-4D97-AF65-F5344CB8AC3E}">
        <p14:creationId xmlns:p14="http://schemas.microsoft.com/office/powerpoint/2010/main" val="30775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1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13" tmFilter="0, 0; 0.125,0.2665; 0.25,0.4; 0.375,0.465; 0.5,0.5;  0.625,0.535; 0.75,0.6; 0.875,0.7335; 1,1">
                                          <p:stCondLst>
                                            <p:cond delay="91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6" tmFilter="0, 0; 0.125,0.2665; 0.25,0.4; 0.375,0.465; 0.5,0.5;  0.625,0.535; 0.75,0.6; 0.875,0.7335; 1,1">
                                          <p:stCondLst>
                                            <p:cond delay="18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26" tmFilter="0, 0; 0.125,0.2665; 0.25,0.4; 0.375,0.465; 0.5,0.5;  0.625,0.535; 0.75,0.6; 0.875,0.7335; 1,1">
                                          <p:stCondLst>
                                            <p:cond delay="227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36">
                                          <p:stCondLst>
                                            <p:cond delay="89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228" decel="50000">
                                          <p:stCondLst>
                                            <p:cond delay="9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36">
                                          <p:stCondLst>
                                            <p:cond delay="18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228" decel="50000">
                                          <p:stCondLst>
                                            <p:cond delay="184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6">
                                          <p:stCondLst>
                                            <p:cond delay="225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22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6">
                                          <p:stCondLst>
                                            <p:cond delay="248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228" decel="50000">
                                          <p:stCondLst>
                                            <p:cond delay="25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7C1802CE-27F9-4B12-A131-2C587B1D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474132"/>
              </p:ext>
            </p:extLst>
          </p:nvPr>
        </p:nvGraphicFramePr>
        <p:xfrm>
          <a:off x="491836" y="2784762"/>
          <a:ext cx="11208327" cy="4488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530E9BBA-C17B-4702-A7E7-8123AD8C2285}"/>
              </a:ext>
            </a:extLst>
          </p:cNvPr>
          <p:cNvCxnSpPr>
            <a:cxnSpLocks/>
          </p:cNvCxnSpPr>
          <p:nvPr/>
        </p:nvCxnSpPr>
        <p:spPr>
          <a:xfrm>
            <a:off x="3519055" y="5091544"/>
            <a:ext cx="14547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9744020-CAC1-4172-BFDE-4D507818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1" y="825886"/>
            <a:ext cx="8520545" cy="706964"/>
          </a:xfrm>
        </p:spPr>
        <p:txBody>
          <a:bodyPr/>
          <a:lstStyle/>
          <a:p>
            <a:r>
              <a:rPr lang="pt-PT" sz="4000" b="1" dirty="0"/>
              <a:t>Processo do Pensamento Criativo</a:t>
            </a:r>
          </a:p>
        </p:txBody>
      </p:sp>
      <p:sp>
        <p:nvSpPr>
          <p:cNvPr id="12" name="Explosão: 14 Pontos 11">
            <a:extLst>
              <a:ext uri="{FF2B5EF4-FFF2-40B4-BE49-F238E27FC236}">
                <a16:creationId xmlns:a16="http://schemas.microsoft.com/office/drawing/2014/main" id="{E20DE290-6412-45AA-91FC-5782CAC89E7C}"/>
              </a:ext>
            </a:extLst>
          </p:cNvPr>
          <p:cNvSpPr/>
          <p:nvPr/>
        </p:nvSpPr>
        <p:spPr>
          <a:xfrm>
            <a:off x="3706091" y="4581622"/>
            <a:ext cx="969818" cy="1073727"/>
          </a:xfrm>
          <a:prstGeom prst="irregularSeal2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C5C20C5-C45E-44A8-979C-35D9E8B3A302}"/>
              </a:ext>
            </a:extLst>
          </p:cNvPr>
          <p:cNvSpPr txBox="1"/>
          <p:nvPr/>
        </p:nvSpPr>
        <p:spPr>
          <a:xfrm>
            <a:off x="7569346" y="4906878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Movimento</a:t>
            </a:r>
          </a:p>
        </p:txBody>
      </p:sp>
    </p:spTree>
    <p:extLst>
      <p:ext uri="{BB962C8B-B14F-4D97-AF65-F5344CB8AC3E}">
        <p14:creationId xmlns:p14="http://schemas.microsoft.com/office/powerpoint/2010/main" val="135016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2" grpId="0"/>
      <p:bldP spid="12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5E47-5EF1-4FAA-9886-03BD52B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46" y="484718"/>
            <a:ext cx="9235956" cy="706964"/>
          </a:xfrm>
        </p:spPr>
        <p:txBody>
          <a:bodyPr/>
          <a:lstStyle/>
          <a:p>
            <a:r>
              <a:rPr lang="pt-PT" dirty="0"/>
              <a:t>Ferramentas não assentes em conceitos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95810E-061B-42D4-B59F-DE821D51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946" y="3095145"/>
            <a:ext cx="9707010" cy="30147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2400" dirty="0"/>
              <a:t>Frota de viaturas bastante envelhecida </a:t>
            </a:r>
            <a:r>
              <a:rPr lang="pt-PT" sz="2400" b="1" dirty="0"/>
              <a:t>(atenção)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Admitir que a situação atual pode ser alterada </a:t>
            </a:r>
            <a:r>
              <a:rPr lang="pt-PT" sz="2400" b="1" dirty="0"/>
              <a:t>(evasão)</a:t>
            </a:r>
          </a:p>
          <a:p>
            <a:pPr>
              <a:lnSpc>
                <a:spcPct val="150000"/>
              </a:lnSpc>
            </a:pPr>
            <a:r>
              <a:rPr lang="pt-PT" sz="2400" dirty="0"/>
              <a:t>Geração de ideias </a:t>
            </a:r>
            <a:r>
              <a:rPr lang="pt-PT" sz="2400" b="1" dirty="0"/>
              <a:t>(movimento)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D954D4-47C9-48E3-8370-E8E8B1CB7612}"/>
              </a:ext>
            </a:extLst>
          </p:cNvPr>
          <p:cNvSpPr/>
          <p:nvPr/>
        </p:nvSpPr>
        <p:spPr>
          <a:xfrm>
            <a:off x="1960418" y="1191682"/>
            <a:ext cx="827116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PT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Rompimento das regras</a:t>
            </a:r>
          </a:p>
        </p:txBody>
      </p:sp>
    </p:spTree>
    <p:extLst>
      <p:ext uri="{BB962C8B-B14F-4D97-AF65-F5344CB8AC3E}">
        <p14:creationId xmlns:p14="http://schemas.microsoft.com/office/powerpoint/2010/main" val="4037738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244</Words>
  <Application>Microsoft Office PowerPoint</Application>
  <PresentationFormat>Ecrã Panorâmico</PresentationFormat>
  <Paragraphs>45</Paragraphs>
  <Slides>9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Tahoma</vt:lpstr>
      <vt:lpstr>Wingdings</vt:lpstr>
      <vt:lpstr>Wingdings 3</vt:lpstr>
      <vt:lpstr>Sala de Reunião de Ião</vt:lpstr>
      <vt:lpstr>TesP  Projeto de moldes  CTI</vt:lpstr>
      <vt:lpstr>Pensamento Criativo</vt:lpstr>
      <vt:lpstr>Ferramentas</vt:lpstr>
      <vt:lpstr>USADAS ISOLADAMENTE </vt:lpstr>
      <vt:lpstr>Ferramentas não assentes em conceitos</vt:lpstr>
      <vt:lpstr>Ferramentas não assentes em conceitos</vt:lpstr>
      <vt:lpstr>Ferramentas não assentes em conceitos</vt:lpstr>
      <vt:lpstr>Processo do Pensamento Criativo</vt:lpstr>
      <vt:lpstr>Ferramentas não assentes em conceitos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TesP  Projeto de moldes  CTI</dc:title>
  <dc:creator>Vìtor Hugo Rodrigues Antunes</dc:creator>
  <cp:lastModifiedBy>Vìtor Hugo Rodrigues Antunes</cp:lastModifiedBy>
  <cp:revision>3</cp:revision>
  <dcterms:created xsi:type="dcterms:W3CDTF">2019-10-22T00:22:35Z</dcterms:created>
  <dcterms:modified xsi:type="dcterms:W3CDTF">2019-10-22T00:42:07Z</dcterms:modified>
</cp:coreProperties>
</file>