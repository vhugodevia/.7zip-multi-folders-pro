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38"/>
  </p:notesMasterIdLst>
  <p:sldIdLst>
    <p:sldId id="256" r:id="rId5"/>
    <p:sldId id="264" r:id="rId6"/>
    <p:sldId id="258" r:id="rId7"/>
    <p:sldId id="277" r:id="rId8"/>
    <p:sldId id="257" r:id="rId9"/>
    <p:sldId id="276" r:id="rId10"/>
    <p:sldId id="273" r:id="rId11"/>
    <p:sldId id="259" r:id="rId12"/>
    <p:sldId id="260" r:id="rId13"/>
    <p:sldId id="261" r:id="rId14"/>
    <p:sldId id="263" r:id="rId15"/>
    <p:sldId id="262" r:id="rId16"/>
    <p:sldId id="287" r:id="rId17"/>
    <p:sldId id="288" r:id="rId18"/>
    <p:sldId id="289" r:id="rId19"/>
    <p:sldId id="290" r:id="rId20"/>
    <p:sldId id="291" r:id="rId21"/>
    <p:sldId id="294" r:id="rId22"/>
    <p:sldId id="292" r:id="rId23"/>
    <p:sldId id="272" r:id="rId24"/>
    <p:sldId id="265" r:id="rId25"/>
    <p:sldId id="266" r:id="rId26"/>
    <p:sldId id="271" r:id="rId27"/>
    <p:sldId id="279" r:id="rId28"/>
    <p:sldId id="268" r:id="rId29"/>
    <p:sldId id="269" r:id="rId30"/>
    <p:sldId id="280" r:id="rId31"/>
    <p:sldId id="285" r:id="rId32"/>
    <p:sldId id="284" r:id="rId33"/>
    <p:sldId id="282" r:id="rId34"/>
    <p:sldId id="267" r:id="rId35"/>
    <p:sldId id="283" r:id="rId36"/>
    <p:sldId id="286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CF2ECA32-6D46-4B05-BA43-37201F4D6186}">
          <p14:sldIdLst>
            <p14:sldId id="256"/>
            <p14:sldId id="264"/>
            <p14:sldId id="258"/>
            <p14:sldId id="277"/>
            <p14:sldId id="257"/>
            <p14:sldId id="276"/>
          </p14:sldIdLst>
        </p14:section>
        <p14:section name="Não assentes em conceitos" id="{2657E74A-64F8-4814-AA17-64E996F925DA}">
          <p14:sldIdLst>
            <p14:sldId id="273"/>
            <p14:sldId id="259"/>
            <p14:sldId id="260"/>
            <p14:sldId id="261"/>
            <p14:sldId id="263"/>
            <p14:sldId id="262"/>
            <p14:sldId id="287"/>
            <p14:sldId id="288"/>
            <p14:sldId id="289"/>
            <p14:sldId id="290"/>
            <p14:sldId id="291"/>
            <p14:sldId id="294"/>
            <p14:sldId id="292"/>
          </p14:sldIdLst>
        </p14:section>
        <p14:section name="Assentes em conceitos" id="{F2F0BB21-4587-4BA0-984D-94A5C945B800}">
          <p14:sldIdLst>
            <p14:sldId id="272"/>
            <p14:sldId id="265"/>
            <p14:sldId id="266"/>
            <p14:sldId id="271"/>
            <p14:sldId id="279"/>
            <p14:sldId id="268"/>
            <p14:sldId id="269"/>
            <p14:sldId id="280"/>
            <p14:sldId id="285"/>
            <p14:sldId id="284"/>
            <p14:sldId id="282"/>
            <p14:sldId id="267"/>
            <p14:sldId id="283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ìtor Hugo Rodrigues Antunes" initials="VHRA" lastIdx="1" clrIdx="0">
    <p:extLst>
      <p:ext uri="{19B8F6BF-5375-455C-9EA6-DF929625EA0E}">
        <p15:presenceInfo xmlns:p15="http://schemas.microsoft.com/office/powerpoint/2012/main" userId="Vìtor Hugo Rodrigues Antun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28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D134C6-7C55-43E4-8504-7E77FCF04757}" v="13" dt="2020-03-09T23:27:48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2" autoAdjust="0"/>
    <p:restoredTop sz="74921" autoAdjust="0"/>
  </p:normalViewPr>
  <p:slideViewPr>
    <p:cSldViewPr snapToGrid="0">
      <p:cViewPr varScale="1">
        <p:scale>
          <a:sx n="39" d="100"/>
          <a:sy n="39" d="100"/>
        </p:scale>
        <p:origin x="113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ìtor Hugo Rodrigues Antunes" userId="add77f8a-40ec-4997-ab85-3f9658298496" providerId="ADAL" clId="{9FD134C6-7C55-43E4-8504-7E77FCF04757}"/>
    <pc:docChg chg="undo custSel modSld">
      <pc:chgData name="Vìtor Hugo Rodrigues Antunes" userId="add77f8a-40ec-4997-ab85-3f9658298496" providerId="ADAL" clId="{9FD134C6-7C55-43E4-8504-7E77FCF04757}" dt="2020-03-09T23:28:15.376" v="157" actId="6549"/>
      <pc:docMkLst>
        <pc:docMk/>
      </pc:docMkLst>
      <pc:sldChg chg="modSp">
        <pc:chgData name="Vìtor Hugo Rodrigues Antunes" userId="add77f8a-40ec-4997-ab85-3f9658298496" providerId="ADAL" clId="{9FD134C6-7C55-43E4-8504-7E77FCF04757}" dt="2020-03-09T23:21:56.663" v="86" actId="20577"/>
        <pc:sldMkLst>
          <pc:docMk/>
          <pc:sldMk cId="1935780283" sldId="256"/>
        </pc:sldMkLst>
        <pc:spChg chg="mod">
          <ac:chgData name="Vìtor Hugo Rodrigues Antunes" userId="add77f8a-40ec-4997-ab85-3f9658298496" providerId="ADAL" clId="{9FD134C6-7C55-43E4-8504-7E77FCF04757}" dt="2020-03-09T23:21:56.663" v="86" actId="20577"/>
          <ac:spMkLst>
            <pc:docMk/>
            <pc:sldMk cId="1935780283" sldId="256"/>
            <ac:spMk id="2" creationId="{92DD27ED-A162-4578-A630-3FB87F5564C8}"/>
          </ac:spMkLst>
        </pc:spChg>
        <pc:spChg chg="mod">
          <ac:chgData name="Vìtor Hugo Rodrigues Antunes" userId="add77f8a-40ec-4997-ab85-3f9658298496" providerId="ADAL" clId="{9FD134C6-7C55-43E4-8504-7E77FCF04757}" dt="2020-03-09T23:21:47.804" v="84" actId="20577"/>
          <ac:spMkLst>
            <pc:docMk/>
            <pc:sldMk cId="1935780283" sldId="256"/>
            <ac:spMk id="3" creationId="{72C735A3-7020-44F6-A586-57A9C543CBAA}"/>
          </ac:spMkLst>
        </pc:spChg>
        <pc:spChg chg="mod">
          <ac:chgData name="Vìtor Hugo Rodrigues Antunes" userId="add77f8a-40ec-4997-ab85-3f9658298496" providerId="ADAL" clId="{9FD134C6-7C55-43E4-8504-7E77FCF04757}" dt="2020-03-09T23:20:44.824" v="42" actId="313"/>
          <ac:spMkLst>
            <pc:docMk/>
            <pc:sldMk cId="1935780283" sldId="256"/>
            <ac:spMk id="9" creationId="{5C3C9BB6-57F3-4B7D-9457-B7F7322B5BE1}"/>
          </ac:spMkLst>
        </pc:spChg>
      </pc:sldChg>
      <pc:sldChg chg="addSp delSp modSp">
        <pc:chgData name="Vìtor Hugo Rodrigues Antunes" userId="add77f8a-40ec-4997-ab85-3f9658298496" providerId="ADAL" clId="{9FD134C6-7C55-43E4-8504-7E77FCF04757}" dt="2020-03-09T23:26:27.972" v="138" actId="1076"/>
        <pc:sldMkLst>
          <pc:docMk/>
          <pc:sldMk cId="3003917276" sldId="258"/>
        </pc:sldMkLst>
        <pc:spChg chg="mod">
          <ac:chgData name="Vìtor Hugo Rodrigues Antunes" userId="add77f8a-40ec-4997-ab85-3f9658298496" providerId="ADAL" clId="{9FD134C6-7C55-43E4-8504-7E77FCF04757}" dt="2020-03-09T23:26:27.972" v="138" actId="1076"/>
          <ac:spMkLst>
            <pc:docMk/>
            <pc:sldMk cId="3003917276" sldId="258"/>
            <ac:spMk id="2" creationId="{92DD27ED-A162-4578-A630-3FB87F5564C8}"/>
          </ac:spMkLst>
        </pc:spChg>
        <pc:spChg chg="del">
          <ac:chgData name="Vìtor Hugo Rodrigues Antunes" userId="add77f8a-40ec-4997-ab85-3f9658298496" providerId="ADAL" clId="{9FD134C6-7C55-43E4-8504-7E77FCF04757}" dt="2020-03-09T23:26:14.185" v="135"/>
          <ac:spMkLst>
            <pc:docMk/>
            <pc:sldMk cId="3003917276" sldId="258"/>
            <ac:spMk id="3" creationId="{72C735A3-7020-44F6-A586-57A9C543CBAA}"/>
          </ac:spMkLst>
        </pc:spChg>
        <pc:spChg chg="add del mod">
          <ac:chgData name="Vìtor Hugo Rodrigues Antunes" userId="add77f8a-40ec-4997-ab85-3f9658298496" providerId="ADAL" clId="{9FD134C6-7C55-43E4-8504-7E77FCF04757}" dt="2020-03-09T23:26:17.622" v="136"/>
          <ac:spMkLst>
            <pc:docMk/>
            <pc:sldMk cId="3003917276" sldId="258"/>
            <ac:spMk id="4" creationId="{3FE9C922-AD00-4907-AE5A-A039E575E88B}"/>
          </ac:spMkLst>
        </pc:spChg>
      </pc:sldChg>
      <pc:sldChg chg="addSp delSp modSp">
        <pc:chgData name="Vìtor Hugo Rodrigues Antunes" userId="add77f8a-40ec-4997-ab85-3f9658298496" providerId="ADAL" clId="{9FD134C6-7C55-43E4-8504-7E77FCF04757}" dt="2020-03-09T23:26:39.390" v="141" actId="113"/>
        <pc:sldMkLst>
          <pc:docMk/>
          <pc:sldMk cId="1895996159" sldId="264"/>
        </pc:sldMkLst>
        <pc:spChg chg="del mod">
          <ac:chgData name="Vìtor Hugo Rodrigues Antunes" userId="add77f8a-40ec-4997-ab85-3f9658298496" providerId="ADAL" clId="{9FD134C6-7C55-43E4-8504-7E77FCF04757}" dt="2020-03-09T23:24:05.970" v="98" actId="478"/>
          <ac:spMkLst>
            <pc:docMk/>
            <pc:sldMk cId="1895996159" sldId="264"/>
            <ac:spMk id="2" creationId="{92DD27ED-A162-4578-A630-3FB87F5564C8}"/>
          </ac:spMkLst>
        </pc:spChg>
        <pc:spChg chg="del mod">
          <ac:chgData name="Vìtor Hugo Rodrigues Antunes" userId="add77f8a-40ec-4997-ab85-3f9658298496" providerId="ADAL" clId="{9FD134C6-7C55-43E4-8504-7E77FCF04757}" dt="2020-03-09T23:23:42.293" v="93"/>
          <ac:spMkLst>
            <pc:docMk/>
            <pc:sldMk cId="1895996159" sldId="264"/>
            <ac:spMk id="3" creationId="{72C735A3-7020-44F6-A586-57A9C543CBAA}"/>
          </ac:spMkLst>
        </pc:spChg>
        <pc:spChg chg="add del mod">
          <ac:chgData name="Vìtor Hugo Rodrigues Antunes" userId="add77f8a-40ec-4997-ab85-3f9658298496" providerId="ADAL" clId="{9FD134C6-7C55-43E4-8504-7E77FCF04757}" dt="2020-03-09T23:26:39.390" v="141" actId="113"/>
          <ac:spMkLst>
            <pc:docMk/>
            <pc:sldMk cId="1895996159" sldId="264"/>
            <ac:spMk id="4" creationId="{41746D38-2A86-4BD8-B2A9-83BE1FEC40FE}"/>
          </ac:spMkLst>
        </pc:spChg>
        <pc:spChg chg="add del mod">
          <ac:chgData name="Vìtor Hugo Rodrigues Antunes" userId="add77f8a-40ec-4997-ab85-3f9658298496" providerId="ADAL" clId="{9FD134C6-7C55-43E4-8504-7E77FCF04757}" dt="2020-03-09T23:23:57.936" v="94" actId="478"/>
          <ac:spMkLst>
            <pc:docMk/>
            <pc:sldMk cId="1895996159" sldId="264"/>
            <ac:spMk id="5" creationId="{59B92C2E-EC08-474D-9A2A-23FD02E290DC}"/>
          </ac:spMkLst>
        </pc:spChg>
        <pc:spChg chg="add del mod">
          <ac:chgData name="Vìtor Hugo Rodrigues Antunes" userId="add77f8a-40ec-4997-ab85-3f9658298496" providerId="ADAL" clId="{9FD134C6-7C55-43E4-8504-7E77FCF04757}" dt="2020-03-09T23:24:08.082" v="99" actId="478"/>
          <ac:spMkLst>
            <pc:docMk/>
            <pc:sldMk cId="1895996159" sldId="264"/>
            <ac:spMk id="7" creationId="{40418992-E327-4E67-944A-2F5A7CBFCE72}"/>
          </ac:spMkLst>
        </pc:spChg>
      </pc:sldChg>
      <pc:sldChg chg="modSp modNotesTx">
        <pc:chgData name="Vìtor Hugo Rodrigues Antunes" userId="add77f8a-40ec-4997-ab85-3f9658298496" providerId="ADAL" clId="{9FD134C6-7C55-43E4-8504-7E77FCF04757}" dt="2020-03-09T23:28:15.376" v="157" actId="6549"/>
        <pc:sldMkLst>
          <pc:docMk/>
          <pc:sldMk cId="2967101421" sldId="277"/>
        </pc:sldMkLst>
        <pc:spChg chg="mod">
          <ac:chgData name="Vìtor Hugo Rodrigues Antunes" userId="add77f8a-40ec-4997-ab85-3f9658298496" providerId="ADAL" clId="{9FD134C6-7C55-43E4-8504-7E77FCF04757}" dt="2020-03-09T23:28:04.563" v="155" actId="1076"/>
          <ac:spMkLst>
            <pc:docMk/>
            <pc:sldMk cId="2967101421" sldId="277"/>
            <ac:spMk id="2" creationId="{166F1680-DACD-42C6-9D43-9EC6674C8F0A}"/>
          </ac:spMkLst>
        </pc:spChg>
        <pc:spChg chg="mod">
          <ac:chgData name="Vìtor Hugo Rodrigues Antunes" userId="add77f8a-40ec-4997-ab85-3f9658298496" providerId="ADAL" clId="{9FD134C6-7C55-43E4-8504-7E77FCF04757}" dt="2020-03-09T23:28:08.850" v="156" actId="1076"/>
          <ac:spMkLst>
            <pc:docMk/>
            <pc:sldMk cId="2967101421" sldId="277"/>
            <ac:spMk id="6" creationId="{079998A4-5E72-4025-B9A9-2064CB78CF5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B4D0E4-E27C-4902-A2D3-4296F5E9A212}" type="doc">
      <dgm:prSet loTypeId="urn:microsoft.com/office/officeart/2005/8/layout/cycle7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97940272-D52C-4FFA-8F51-9631E7960D23}">
      <dgm:prSet phldrT="[Texto]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pt-PT" b="1" dirty="0">
              <a:solidFill>
                <a:schemeClr val="tx1"/>
              </a:solidFill>
            </a:rPr>
            <a:t>Provocação</a:t>
          </a:r>
        </a:p>
      </dgm:t>
    </dgm:pt>
    <dgm:pt modelId="{E4C0E1C1-D11C-40C5-B1CA-1D4ED060E478}" type="parTrans" cxnId="{9CA1522A-BACF-47AB-B091-89880D56474E}">
      <dgm:prSet/>
      <dgm:spPr/>
      <dgm:t>
        <a:bodyPr/>
        <a:lstStyle/>
        <a:p>
          <a:endParaRPr lang="pt-PT"/>
        </a:p>
      </dgm:t>
    </dgm:pt>
    <dgm:pt modelId="{95C8542B-9AD4-406F-AA07-D9387719CAB5}" type="sibTrans" cxnId="{9CA1522A-BACF-47AB-B091-89880D56474E}">
      <dgm:prSet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endParaRPr lang="pt-PT" dirty="0"/>
        </a:p>
      </dgm:t>
    </dgm:pt>
    <dgm:pt modelId="{8497F47F-DBDB-4558-AE53-6F20FB004FAF}">
      <dgm:prSet phldrT="[Texto]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pt-PT" dirty="0">
              <a:solidFill>
                <a:srgbClr val="C00000"/>
              </a:solidFill>
            </a:rPr>
            <a:t>Ideias criativas</a:t>
          </a:r>
        </a:p>
      </dgm:t>
    </dgm:pt>
    <dgm:pt modelId="{214E4B7C-69D7-49C9-8C21-0363842F692E}" type="parTrans" cxnId="{4623BF3C-2A40-489A-B3B0-EFCA0E552503}">
      <dgm:prSet/>
      <dgm:spPr/>
      <dgm:t>
        <a:bodyPr/>
        <a:lstStyle/>
        <a:p>
          <a:endParaRPr lang="pt-PT"/>
        </a:p>
      </dgm:t>
    </dgm:pt>
    <dgm:pt modelId="{8DB5F892-B904-4F9F-BE3B-AC1B011B47E7}" type="sibTrans" cxnId="{4623BF3C-2A40-489A-B3B0-EFCA0E552503}">
      <dgm:prSet/>
      <dgm:spPr/>
      <dgm:t>
        <a:bodyPr/>
        <a:lstStyle/>
        <a:p>
          <a:endParaRPr lang="pt-PT" dirty="0"/>
        </a:p>
      </dgm:t>
    </dgm:pt>
    <dgm:pt modelId="{3414DB62-2B29-4571-860D-02C4544C3F19}">
      <dgm:prSet phldrT="[Texto]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pt-PT" b="1" dirty="0">
              <a:solidFill>
                <a:schemeClr val="tx1"/>
              </a:solidFill>
            </a:rPr>
            <a:t>Atenção</a:t>
          </a:r>
        </a:p>
      </dgm:t>
    </dgm:pt>
    <dgm:pt modelId="{AEEBF7A3-D2B3-422F-9876-9C76763E8CC2}" type="parTrans" cxnId="{3EDF0328-92C5-4754-A62B-84A5083EAFF6}">
      <dgm:prSet/>
      <dgm:spPr/>
      <dgm:t>
        <a:bodyPr/>
        <a:lstStyle/>
        <a:p>
          <a:endParaRPr lang="pt-PT"/>
        </a:p>
      </dgm:t>
    </dgm:pt>
    <dgm:pt modelId="{5F322773-C12A-4D4B-A97E-3DE09438A19E}" type="sibTrans" cxnId="{3EDF0328-92C5-4754-A62B-84A5083EAFF6}">
      <dgm:prSet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endParaRPr lang="pt-PT" dirty="0"/>
        </a:p>
      </dgm:t>
    </dgm:pt>
    <dgm:pt modelId="{1E144AA4-5430-474A-A985-0D0770544D78}">
      <dgm:prSet phldrT="[Texto]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pt-PT" b="1" dirty="0">
              <a:solidFill>
                <a:schemeClr val="tx1"/>
              </a:solidFill>
            </a:rPr>
            <a:t>Evasão</a:t>
          </a:r>
        </a:p>
      </dgm:t>
    </dgm:pt>
    <dgm:pt modelId="{E59671DA-DA89-47DC-96B4-70D818ED9677}" type="parTrans" cxnId="{7A64445D-82D3-4905-9CF7-B536C067478A}">
      <dgm:prSet/>
      <dgm:spPr/>
      <dgm:t>
        <a:bodyPr/>
        <a:lstStyle/>
        <a:p>
          <a:endParaRPr lang="pt-PT"/>
        </a:p>
      </dgm:t>
    </dgm:pt>
    <dgm:pt modelId="{E08A12B8-C87F-42EF-A77D-D1E30A8DFA09}" type="sibTrans" cxnId="{7A64445D-82D3-4905-9CF7-B536C067478A}">
      <dgm:prSet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endParaRPr lang="pt-PT" dirty="0"/>
        </a:p>
      </dgm:t>
    </dgm:pt>
    <dgm:pt modelId="{E67A5869-885B-4EDB-854E-ACB5797DAFE7}" type="pres">
      <dgm:prSet presAssocID="{C3B4D0E4-E27C-4902-A2D3-4296F5E9A212}" presName="Name0" presStyleCnt="0">
        <dgm:presLayoutVars>
          <dgm:dir/>
          <dgm:resizeHandles val="exact"/>
        </dgm:presLayoutVars>
      </dgm:prSet>
      <dgm:spPr/>
    </dgm:pt>
    <dgm:pt modelId="{6C1C676B-A54B-4C18-82EC-AC978A1810F6}" type="pres">
      <dgm:prSet presAssocID="{97940272-D52C-4FFA-8F51-9631E7960D23}" presName="node" presStyleLbl="node1" presStyleIdx="0" presStyleCnt="4">
        <dgm:presLayoutVars>
          <dgm:bulletEnabled val="1"/>
        </dgm:presLayoutVars>
      </dgm:prSet>
      <dgm:spPr/>
    </dgm:pt>
    <dgm:pt modelId="{56D59C76-14C3-42AC-B073-8CDCF7BE5A3F}" type="pres">
      <dgm:prSet presAssocID="{95C8542B-9AD4-406F-AA07-D9387719CAB5}" presName="sibTrans" presStyleLbl="sibTrans2D1" presStyleIdx="0" presStyleCnt="4" custAng="1237576" custScaleX="144388" custScaleY="81215" custLinFactX="-11379" custLinFactNeighborX="-100000" custLinFactNeighborY="-9481"/>
      <dgm:spPr>
        <a:prstGeom prst="rightArrow">
          <a:avLst/>
        </a:prstGeom>
      </dgm:spPr>
    </dgm:pt>
    <dgm:pt modelId="{9DCBE86B-DC60-4FF2-AF19-88CD62CB00F3}" type="pres">
      <dgm:prSet presAssocID="{95C8542B-9AD4-406F-AA07-D9387719CAB5}" presName="connectorText" presStyleLbl="sibTrans2D1" presStyleIdx="0" presStyleCnt="4"/>
      <dgm:spPr/>
    </dgm:pt>
    <dgm:pt modelId="{4AF1CB2F-2491-4628-9581-B91018B52314}" type="pres">
      <dgm:prSet presAssocID="{8497F47F-DBDB-4558-AE53-6F20FB004FAF}" presName="node" presStyleLbl="node1" presStyleIdx="1" presStyleCnt="4" custRadScaleRad="239371" custRadScaleInc="-1866">
        <dgm:presLayoutVars>
          <dgm:bulletEnabled val="1"/>
        </dgm:presLayoutVars>
      </dgm:prSet>
      <dgm:spPr/>
    </dgm:pt>
    <dgm:pt modelId="{DC0D4CA3-BDAD-4BA1-B4B2-23D08EDC1278}" type="pres">
      <dgm:prSet presAssocID="{8DB5F892-B904-4F9F-BE3B-AC1B011B47E7}" presName="sibTrans" presStyleLbl="sibTrans2D1" presStyleIdx="1" presStyleCnt="4"/>
      <dgm:spPr/>
    </dgm:pt>
    <dgm:pt modelId="{20B6963C-5725-4DF6-9A5E-772DEC90BD4E}" type="pres">
      <dgm:prSet presAssocID="{8DB5F892-B904-4F9F-BE3B-AC1B011B47E7}" presName="connectorText" presStyleLbl="sibTrans2D1" presStyleIdx="1" presStyleCnt="4"/>
      <dgm:spPr/>
    </dgm:pt>
    <dgm:pt modelId="{50D21886-7B84-4C44-A524-48A6A5A91292}" type="pres">
      <dgm:prSet presAssocID="{3414DB62-2B29-4571-860D-02C4544C3F19}" presName="node" presStyleLbl="node1" presStyleIdx="2" presStyleCnt="4" custRadScaleRad="207508" custRadScaleInc="199049">
        <dgm:presLayoutVars>
          <dgm:bulletEnabled val="1"/>
        </dgm:presLayoutVars>
      </dgm:prSet>
      <dgm:spPr/>
    </dgm:pt>
    <dgm:pt modelId="{F3FD9F6A-D3D8-464C-83D9-58F65DA66A54}" type="pres">
      <dgm:prSet presAssocID="{5F322773-C12A-4D4B-A97E-3DE09438A19E}" presName="sibTrans" presStyleLbl="sibTrans2D1" presStyleIdx="2" presStyleCnt="4" custAng="38156" custScaleX="314746" custScaleY="223225" custLinFactX="289761" custLinFactNeighborX="300000" custLinFactNeighborY="-2175"/>
      <dgm:spPr/>
    </dgm:pt>
    <dgm:pt modelId="{5AB2BAB2-A15D-4AEA-A474-48167F877D07}" type="pres">
      <dgm:prSet presAssocID="{5F322773-C12A-4D4B-A97E-3DE09438A19E}" presName="connectorText" presStyleLbl="sibTrans2D1" presStyleIdx="2" presStyleCnt="4"/>
      <dgm:spPr/>
    </dgm:pt>
    <dgm:pt modelId="{3862440A-54F9-4100-8F51-11E7BF44AB8D}" type="pres">
      <dgm:prSet presAssocID="{1E144AA4-5430-474A-A985-0D0770544D78}" presName="node" presStyleLbl="node1" presStyleIdx="3" presStyleCnt="4" custRadScaleRad="847" custRadScaleInc="259058">
        <dgm:presLayoutVars>
          <dgm:bulletEnabled val="1"/>
        </dgm:presLayoutVars>
      </dgm:prSet>
      <dgm:spPr/>
    </dgm:pt>
    <dgm:pt modelId="{3DFE09FE-4E7E-4BED-A14F-50FB3A21D6A7}" type="pres">
      <dgm:prSet presAssocID="{E08A12B8-C87F-42EF-A77D-D1E30A8DFA09}" presName="sibTrans" presStyleLbl="sibTrans2D1" presStyleIdx="3" presStyleCnt="4" custAng="2367705" custScaleX="132541" custScaleY="94309" custLinFactX="-100000" custLinFactNeighborX="-106116" custLinFactNeighborY="-12652"/>
      <dgm:spPr>
        <a:prstGeom prst="leftArrow">
          <a:avLst/>
        </a:prstGeom>
      </dgm:spPr>
    </dgm:pt>
    <dgm:pt modelId="{C80700A4-7B2C-4FCC-B2E8-60F886DEC46A}" type="pres">
      <dgm:prSet presAssocID="{E08A12B8-C87F-42EF-A77D-D1E30A8DFA09}" presName="connectorText" presStyleLbl="sibTrans2D1" presStyleIdx="3" presStyleCnt="4"/>
      <dgm:spPr/>
    </dgm:pt>
  </dgm:ptLst>
  <dgm:cxnLst>
    <dgm:cxn modelId="{B370E811-A202-4892-A244-7A8573A9B0DC}" type="presOf" srcId="{8497F47F-DBDB-4558-AE53-6F20FB004FAF}" destId="{4AF1CB2F-2491-4628-9581-B91018B52314}" srcOrd="0" destOrd="0" presId="urn:microsoft.com/office/officeart/2005/8/layout/cycle7"/>
    <dgm:cxn modelId="{3EDF0328-92C5-4754-A62B-84A5083EAFF6}" srcId="{C3B4D0E4-E27C-4902-A2D3-4296F5E9A212}" destId="{3414DB62-2B29-4571-860D-02C4544C3F19}" srcOrd="2" destOrd="0" parTransId="{AEEBF7A3-D2B3-422F-9876-9C76763E8CC2}" sibTransId="{5F322773-C12A-4D4B-A97E-3DE09438A19E}"/>
    <dgm:cxn modelId="{9CA1522A-BACF-47AB-B091-89880D56474E}" srcId="{C3B4D0E4-E27C-4902-A2D3-4296F5E9A212}" destId="{97940272-D52C-4FFA-8F51-9631E7960D23}" srcOrd="0" destOrd="0" parTransId="{E4C0E1C1-D11C-40C5-B1CA-1D4ED060E478}" sibTransId="{95C8542B-9AD4-406F-AA07-D9387719CAB5}"/>
    <dgm:cxn modelId="{4623BF3C-2A40-489A-B3B0-EFCA0E552503}" srcId="{C3B4D0E4-E27C-4902-A2D3-4296F5E9A212}" destId="{8497F47F-DBDB-4558-AE53-6F20FB004FAF}" srcOrd="1" destOrd="0" parTransId="{214E4B7C-69D7-49C9-8C21-0363842F692E}" sibTransId="{8DB5F892-B904-4F9F-BE3B-AC1B011B47E7}"/>
    <dgm:cxn modelId="{7A64445D-82D3-4905-9CF7-B536C067478A}" srcId="{C3B4D0E4-E27C-4902-A2D3-4296F5E9A212}" destId="{1E144AA4-5430-474A-A985-0D0770544D78}" srcOrd="3" destOrd="0" parTransId="{E59671DA-DA89-47DC-96B4-70D818ED9677}" sibTransId="{E08A12B8-C87F-42EF-A77D-D1E30A8DFA09}"/>
    <dgm:cxn modelId="{8A048067-052B-4E06-A4AA-42BD399B7D23}" type="presOf" srcId="{E08A12B8-C87F-42EF-A77D-D1E30A8DFA09}" destId="{3DFE09FE-4E7E-4BED-A14F-50FB3A21D6A7}" srcOrd="0" destOrd="0" presId="urn:microsoft.com/office/officeart/2005/8/layout/cycle7"/>
    <dgm:cxn modelId="{64D8C04D-C9D8-45F9-B04E-EC5F679AC7ED}" type="presOf" srcId="{1E144AA4-5430-474A-A985-0D0770544D78}" destId="{3862440A-54F9-4100-8F51-11E7BF44AB8D}" srcOrd="0" destOrd="0" presId="urn:microsoft.com/office/officeart/2005/8/layout/cycle7"/>
    <dgm:cxn modelId="{0226134F-A4F8-4D00-BDD6-85CDCB395830}" type="presOf" srcId="{5F322773-C12A-4D4B-A97E-3DE09438A19E}" destId="{F3FD9F6A-D3D8-464C-83D9-58F65DA66A54}" srcOrd="0" destOrd="0" presId="urn:microsoft.com/office/officeart/2005/8/layout/cycle7"/>
    <dgm:cxn modelId="{63C01A73-67E4-4020-827A-E3BC007E928F}" type="presOf" srcId="{97940272-D52C-4FFA-8F51-9631E7960D23}" destId="{6C1C676B-A54B-4C18-82EC-AC978A1810F6}" srcOrd="0" destOrd="0" presId="urn:microsoft.com/office/officeart/2005/8/layout/cycle7"/>
    <dgm:cxn modelId="{A7C7DA8B-73A3-4D56-AD3A-90D2E774B38B}" type="presOf" srcId="{5F322773-C12A-4D4B-A97E-3DE09438A19E}" destId="{5AB2BAB2-A15D-4AEA-A474-48167F877D07}" srcOrd="1" destOrd="0" presId="urn:microsoft.com/office/officeart/2005/8/layout/cycle7"/>
    <dgm:cxn modelId="{2553EEA3-4F92-4184-872A-16995995CBC7}" type="presOf" srcId="{95C8542B-9AD4-406F-AA07-D9387719CAB5}" destId="{56D59C76-14C3-42AC-B073-8CDCF7BE5A3F}" srcOrd="0" destOrd="0" presId="urn:microsoft.com/office/officeart/2005/8/layout/cycle7"/>
    <dgm:cxn modelId="{607E35BE-D281-4AB7-A061-24009178A349}" type="presOf" srcId="{3414DB62-2B29-4571-860D-02C4544C3F19}" destId="{50D21886-7B84-4C44-A524-48A6A5A91292}" srcOrd="0" destOrd="0" presId="urn:microsoft.com/office/officeart/2005/8/layout/cycle7"/>
    <dgm:cxn modelId="{513CBBC2-AF9C-4566-8740-E0D612F833B7}" type="presOf" srcId="{E08A12B8-C87F-42EF-A77D-D1E30A8DFA09}" destId="{C80700A4-7B2C-4FCC-B2E8-60F886DEC46A}" srcOrd="1" destOrd="0" presId="urn:microsoft.com/office/officeart/2005/8/layout/cycle7"/>
    <dgm:cxn modelId="{5F9B9CC7-FF18-4286-9435-73F0DCA5E994}" type="presOf" srcId="{8DB5F892-B904-4F9F-BE3B-AC1B011B47E7}" destId="{DC0D4CA3-BDAD-4BA1-B4B2-23D08EDC1278}" srcOrd="0" destOrd="0" presId="urn:microsoft.com/office/officeart/2005/8/layout/cycle7"/>
    <dgm:cxn modelId="{184C97CC-43CF-46B6-BE3E-0CE6E44235FD}" type="presOf" srcId="{95C8542B-9AD4-406F-AA07-D9387719CAB5}" destId="{9DCBE86B-DC60-4FF2-AF19-88CD62CB00F3}" srcOrd="1" destOrd="0" presId="urn:microsoft.com/office/officeart/2005/8/layout/cycle7"/>
    <dgm:cxn modelId="{132EC4E7-AA3A-4CEA-8DFB-0FC71B690E32}" type="presOf" srcId="{C3B4D0E4-E27C-4902-A2D3-4296F5E9A212}" destId="{E67A5869-885B-4EDB-854E-ACB5797DAFE7}" srcOrd="0" destOrd="0" presId="urn:microsoft.com/office/officeart/2005/8/layout/cycle7"/>
    <dgm:cxn modelId="{78BA32E9-72AC-4C6E-9B57-ACDCC1C94044}" type="presOf" srcId="{8DB5F892-B904-4F9F-BE3B-AC1B011B47E7}" destId="{20B6963C-5725-4DF6-9A5E-772DEC90BD4E}" srcOrd="1" destOrd="0" presId="urn:microsoft.com/office/officeart/2005/8/layout/cycle7"/>
    <dgm:cxn modelId="{8362499C-2E50-48C9-BDCB-70611F481223}" type="presParOf" srcId="{E67A5869-885B-4EDB-854E-ACB5797DAFE7}" destId="{6C1C676B-A54B-4C18-82EC-AC978A1810F6}" srcOrd="0" destOrd="0" presId="urn:microsoft.com/office/officeart/2005/8/layout/cycle7"/>
    <dgm:cxn modelId="{46BBDDEA-CE01-4456-8242-E6826091D079}" type="presParOf" srcId="{E67A5869-885B-4EDB-854E-ACB5797DAFE7}" destId="{56D59C76-14C3-42AC-B073-8CDCF7BE5A3F}" srcOrd="1" destOrd="0" presId="urn:microsoft.com/office/officeart/2005/8/layout/cycle7"/>
    <dgm:cxn modelId="{16945CB2-9032-4265-A0F8-E7A99CE73406}" type="presParOf" srcId="{56D59C76-14C3-42AC-B073-8CDCF7BE5A3F}" destId="{9DCBE86B-DC60-4FF2-AF19-88CD62CB00F3}" srcOrd="0" destOrd="0" presId="urn:microsoft.com/office/officeart/2005/8/layout/cycle7"/>
    <dgm:cxn modelId="{A410EF70-9E9F-4FC9-A903-4BADBDB72217}" type="presParOf" srcId="{E67A5869-885B-4EDB-854E-ACB5797DAFE7}" destId="{4AF1CB2F-2491-4628-9581-B91018B52314}" srcOrd="2" destOrd="0" presId="urn:microsoft.com/office/officeart/2005/8/layout/cycle7"/>
    <dgm:cxn modelId="{8379A6FD-B193-44CC-80AF-36A5AC2B43E4}" type="presParOf" srcId="{E67A5869-885B-4EDB-854E-ACB5797DAFE7}" destId="{DC0D4CA3-BDAD-4BA1-B4B2-23D08EDC1278}" srcOrd="3" destOrd="0" presId="urn:microsoft.com/office/officeart/2005/8/layout/cycle7"/>
    <dgm:cxn modelId="{0954A1A9-2E79-4DBF-88B2-48BE1EEFD2F6}" type="presParOf" srcId="{DC0D4CA3-BDAD-4BA1-B4B2-23D08EDC1278}" destId="{20B6963C-5725-4DF6-9A5E-772DEC90BD4E}" srcOrd="0" destOrd="0" presId="urn:microsoft.com/office/officeart/2005/8/layout/cycle7"/>
    <dgm:cxn modelId="{C1E47924-DD59-4F93-B86D-D62A46DFD1DE}" type="presParOf" srcId="{E67A5869-885B-4EDB-854E-ACB5797DAFE7}" destId="{50D21886-7B84-4C44-A524-48A6A5A91292}" srcOrd="4" destOrd="0" presId="urn:microsoft.com/office/officeart/2005/8/layout/cycle7"/>
    <dgm:cxn modelId="{667E4DEB-54D1-4F54-A8C6-5CDA171D69FF}" type="presParOf" srcId="{E67A5869-885B-4EDB-854E-ACB5797DAFE7}" destId="{F3FD9F6A-D3D8-464C-83D9-58F65DA66A54}" srcOrd="5" destOrd="0" presId="urn:microsoft.com/office/officeart/2005/8/layout/cycle7"/>
    <dgm:cxn modelId="{1171013A-4F7B-4809-B2CD-E305771EE92D}" type="presParOf" srcId="{F3FD9F6A-D3D8-464C-83D9-58F65DA66A54}" destId="{5AB2BAB2-A15D-4AEA-A474-48167F877D07}" srcOrd="0" destOrd="0" presId="urn:microsoft.com/office/officeart/2005/8/layout/cycle7"/>
    <dgm:cxn modelId="{E90E1A6C-9C26-4F92-98B6-2FA7CF34AD23}" type="presParOf" srcId="{E67A5869-885B-4EDB-854E-ACB5797DAFE7}" destId="{3862440A-54F9-4100-8F51-11E7BF44AB8D}" srcOrd="6" destOrd="0" presId="urn:microsoft.com/office/officeart/2005/8/layout/cycle7"/>
    <dgm:cxn modelId="{A8213432-FAFE-4163-9E79-41B44A74A69D}" type="presParOf" srcId="{E67A5869-885B-4EDB-854E-ACB5797DAFE7}" destId="{3DFE09FE-4E7E-4BED-A14F-50FB3A21D6A7}" srcOrd="7" destOrd="0" presId="urn:microsoft.com/office/officeart/2005/8/layout/cycle7"/>
    <dgm:cxn modelId="{B591AA2A-C288-45AF-AD5E-6E81F6A2C33B}" type="presParOf" srcId="{3DFE09FE-4E7E-4BED-A14F-50FB3A21D6A7}" destId="{C80700A4-7B2C-4FCC-B2E8-60F886DEC46A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C676B-A54B-4C18-82EC-AC978A1810F6}">
      <dsp:nvSpPr>
        <dsp:cNvPr id="0" name=""/>
        <dsp:cNvSpPr/>
      </dsp:nvSpPr>
      <dsp:spPr>
        <a:xfrm>
          <a:off x="4677889" y="2700"/>
          <a:ext cx="1852548" cy="9262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b="1" kern="1200" dirty="0">
              <a:solidFill>
                <a:schemeClr val="tx1"/>
              </a:solidFill>
            </a:rPr>
            <a:t>Provocação</a:t>
          </a:r>
        </a:p>
      </dsp:txBody>
      <dsp:txXfrm>
        <a:off x="4705019" y="29830"/>
        <a:ext cx="1798288" cy="872014"/>
      </dsp:txXfrm>
    </dsp:sp>
    <dsp:sp modelId="{56D59C76-14C3-42AC-B073-8CDCF7BE5A3F}">
      <dsp:nvSpPr>
        <dsp:cNvPr id="0" name=""/>
        <dsp:cNvSpPr/>
      </dsp:nvSpPr>
      <dsp:spPr>
        <a:xfrm rot="2554985">
          <a:off x="6500726" y="1161555"/>
          <a:ext cx="968969" cy="263295"/>
        </a:xfrm>
        <a:prstGeom prst="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accent1">
              <a:lumMod val="5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100" kern="1200" dirty="0"/>
        </a:p>
      </dsp:txBody>
      <dsp:txXfrm>
        <a:off x="6579715" y="1214214"/>
        <a:ext cx="810992" cy="157977"/>
      </dsp:txXfrm>
    </dsp:sp>
    <dsp:sp modelId="{4AF1CB2F-2491-4628-9581-B91018B52314}">
      <dsp:nvSpPr>
        <dsp:cNvPr id="0" name=""/>
        <dsp:cNvSpPr/>
      </dsp:nvSpPr>
      <dsp:spPr>
        <a:xfrm>
          <a:off x="8934884" y="1718906"/>
          <a:ext cx="1852548" cy="9262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kern="1200" dirty="0">
              <a:solidFill>
                <a:srgbClr val="C00000"/>
              </a:solidFill>
            </a:rPr>
            <a:t>Ideias criativas</a:t>
          </a:r>
        </a:p>
      </dsp:txBody>
      <dsp:txXfrm>
        <a:off x="8962014" y="1746036"/>
        <a:ext cx="1798288" cy="872014"/>
      </dsp:txXfrm>
    </dsp:sp>
    <dsp:sp modelId="{DC0D4CA3-BDAD-4BA1-B4B2-23D08EDC1278}">
      <dsp:nvSpPr>
        <dsp:cNvPr id="0" name=""/>
        <dsp:cNvSpPr/>
      </dsp:nvSpPr>
      <dsp:spPr>
        <a:xfrm rot="10761090">
          <a:off x="5551800" y="2064925"/>
          <a:ext cx="671087" cy="32419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 dirty="0"/>
        </a:p>
      </dsp:txBody>
      <dsp:txXfrm rot="10800000">
        <a:off x="5649058" y="2129764"/>
        <a:ext cx="476570" cy="194517"/>
      </dsp:txXfrm>
    </dsp:sp>
    <dsp:sp modelId="{50D21886-7B84-4C44-A524-48A6A5A91292}">
      <dsp:nvSpPr>
        <dsp:cNvPr id="0" name=""/>
        <dsp:cNvSpPr/>
      </dsp:nvSpPr>
      <dsp:spPr>
        <a:xfrm>
          <a:off x="987255" y="1808866"/>
          <a:ext cx="1852548" cy="9262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b="1" kern="1200" dirty="0">
              <a:solidFill>
                <a:schemeClr val="tx1"/>
              </a:solidFill>
            </a:rPr>
            <a:t>Atenção</a:t>
          </a:r>
        </a:p>
      </dsp:txBody>
      <dsp:txXfrm>
        <a:off x="1014385" y="1835996"/>
        <a:ext cx="1798288" cy="872014"/>
      </dsp:txXfrm>
    </dsp:sp>
    <dsp:sp modelId="{F3FD9F6A-D3D8-464C-83D9-58F65DA66A54}">
      <dsp:nvSpPr>
        <dsp:cNvPr id="0" name=""/>
        <dsp:cNvSpPr/>
      </dsp:nvSpPr>
      <dsp:spPr>
        <a:xfrm rot="21600000">
          <a:off x="6663916" y="1882589"/>
          <a:ext cx="2112219" cy="723686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accent1">
              <a:lumMod val="5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700" kern="1200" dirty="0"/>
        </a:p>
      </dsp:txBody>
      <dsp:txXfrm rot="-21600000">
        <a:off x="6881022" y="2027326"/>
        <a:ext cx="1678007" cy="434212"/>
      </dsp:txXfrm>
    </dsp:sp>
    <dsp:sp modelId="{3862440A-54F9-4100-8F51-11E7BF44AB8D}">
      <dsp:nvSpPr>
        <dsp:cNvPr id="0" name=""/>
        <dsp:cNvSpPr/>
      </dsp:nvSpPr>
      <dsp:spPr>
        <a:xfrm>
          <a:off x="4684629" y="1767826"/>
          <a:ext cx="1852548" cy="9262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b="1" kern="1200" dirty="0">
              <a:solidFill>
                <a:schemeClr val="tx1"/>
              </a:solidFill>
            </a:rPr>
            <a:t>Evasão</a:t>
          </a:r>
        </a:p>
      </dsp:txBody>
      <dsp:txXfrm>
        <a:off x="4711759" y="1794956"/>
        <a:ext cx="1798288" cy="872014"/>
      </dsp:txXfrm>
    </dsp:sp>
    <dsp:sp modelId="{3DFE09FE-4E7E-4BED-A14F-50FB3A21D6A7}">
      <dsp:nvSpPr>
        <dsp:cNvPr id="0" name=""/>
        <dsp:cNvSpPr/>
      </dsp:nvSpPr>
      <dsp:spPr>
        <a:xfrm rot="18554579">
          <a:off x="3779582" y="1154510"/>
          <a:ext cx="889465" cy="305745"/>
        </a:xfrm>
        <a:prstGeom prst="lef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accent1">
              <a:lumMod val="5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 dirty="0"/>
        </a:p>
      </dsp:txBody>
      <dsp:txXfrm rot="10800000">
        <a:off x="3871306" y="1215659"/>
        <a:ext cx="706018" cy="1834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A4A31-E6BA-40ED-A9A6-00C1D60EAFDC}" type="datetimeFigureOut">
              <a:rPr lang="pt-PT" smtClean="0"/>
              <a:t>09-03-2020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A5C55-0354-43FB-8806-721F48A12188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2553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4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94427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</a:t>
            </a:r>
            <a:r>
              <a:rPr lang="pt-PT" sz="1200" b="0" i="0" kern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Existem três mecanismos que os lideres de reuniões utilizam para fomentar o pensamento criativo: Atenção, Evasão e Movimento</a:t>
            </a:r>
            <a:r>
              <a: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5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37936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pt-PT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podem ser usadas pelos lideres de reuniões, seja isoladamente, seja como ferramenta de apoio ao brainstorming ou grupos nominais;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0" i="0" kern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As nossas mentes estão otimizadas para pensar sobre padrões já existentes 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sz="12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6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82907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Janela aberta c/ bom tempo - acolher fornecedores cumpridores</a:t>
            </a:r>
          </a:p>
          <a:p>
            <a:r>
              <a:rPr lang="pt-PT" dirty="0"/>
              <a:t>Janela fechada c/ mão tempo – cessação de encomendas aos fornecedores reincidentes em falhas</a:t>
            </a:r>
          </a:p>
          <a:p>
            <a:r>
              <a:rPr lang="pt-PT" dirty="0"/>
              <a:t>Janelas de vários tipos – contratos de várias índoles com diferentes fornecedores</a:t>
            </a:r>
          </a:p>
          <a:p>
            <a:r>
              <a:rPr lang="pt-PT" dirty="0"/>
              <a:t>Janelas baixas risco de assalto – é necessário criar grades de proteção, isto é,  clausulas contratuais que penalizem fornecedores por incumprimento de prazos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9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25894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Provocação: lei proíbe empresas do setor de usar viaturas c/ + de 5 anos</a:t>
            </a:r>
          </a:p>
          <a:p>
            <a:r>
              <a:rPr lang="pt-PT" dirty="0"/>
              <a:t>Ideias: troca viaturas, sistemas leasing, recurso a empresas de transporte, substituir autovias por ferrovias, etc…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12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02618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Modificação de elementos ou (cena)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Loja de vestuário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lang="pt-PT" sz="1200" b="0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Diversos tipo de portas (crianças, adultos, deficientes)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lang="pt-PT" sz="1200" b="0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Montras possíveis de abertura (clientes podem ser entrar estar no papel de manequim)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lang="pt-PT" sz="1200" b="0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Substituir balcões escuros por balcões coloridos ou com forma do logo da empresa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13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25691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0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Criança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0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Animal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sz="1200" b="0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14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61311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0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Modo racional por exemplo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0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em função da dimensão , departamentos envolvidos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0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Ou partindo dos propósitos estratégicos até aos operacionais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15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86015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0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Alternativa ou cumulativamente pode sugerir que descubram sinónimos e antónimos e os usem na combinação 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16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974514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0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Corridas formula 1 e o problema da necessidade de tomar decisões rápidas sob stress.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sz="1200" b="0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17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26795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0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Transposição de procedimentos, mecanismos, comportamentos……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18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72521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sz="1200" b="0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19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94023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20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02849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PT" sz="1200" dirty="0"/>
              <a:t>Um dos modos de aproveitar os efeitos da produção criativa desencadeada pelas provocações.</a:t>
            </a:r>
          </a:p>
          <a:p>
            <a:pPr>
              <a:lnSpc>
                <a:spcPct val="150000"/>
              </a:lnSpc>
            </a:pPr>
            <a:r>
              <a:rPr lang="pt-PT" sz="1200" dirty="0"/>
              <a:t>Permitem distinguir as ideias correntes dos conceitos a que estão associadas; O mesmo conceito poderá ter varias ideias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Este processo pode ter uma sequencia longa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As mesmas ideias podem confluir para o mesmo conceito</a:t>
            </a:r>
          </a:p>
          <a:p>
            <a:pPr>
              <a:lnSpc>
                <a:spcPct val="150000"/>
              </a:lnSpc>
            </a:pPr>
            <a:endParaRPr lang="pt-PT" sz="1200" dirty="0"/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23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82051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 É uma extensão do triangulo de conceitos. Apropriados para casos que envolvam processos.</a:t>
            </a:r>
          </a:p>
          <a:p>
            <a:r>
              <a:rPr lang="pt-PT" dirty="0"/>
              <a:t>   Contem 4 passos:</a:t>
            </a:r>
          </a:p>
          <a:p>
            <a:r>
              <a:rPr lang="pt-PT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 isso podemos fazer um triangulo de conceitos para cada uma dessas partes e usar provocações como palavras aleatórias, rompimento de regras, etc.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25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051205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A lista pode ser incrementada e modificada se necessário. Isto pode ser feito com estratégias interrogativas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29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00365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Exemplo da laranja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32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009816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3/9/2020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dirty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dirty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dirty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3/9/2020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2C735A3-7020-44F6-A586-57A9C543C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5061" y="4234070"/>
            <a:ext cx="5428551" cy="1848677"/>
          </a:xfrm>
        </p:spPr>
        <p:txBody>
          <a:bodyPr>
            <a:normAutofit lnSpcReduction="10000"/>
          </a:bodyPr>
          <a:lstStyle/>
          <a:p>
            <a:r>
              <a:rPr lang="pt-PT" cap="none" dirty="0"/>
              <a:t>Diogo Morgado</a:t>
            </a:r>
          </a:p>
          <a:p>
            <a:r>
              <a:rPr lang="pt-PT" cap="none" dirty="0"/>
              <a:t>Helena Carvalho</a:t>
            </a:r>
          </a:p>
          <a:p>
            <a:r>
              <a:rPr lang="pt-PT" cap="none" dirty="0"/>
              <a:t>José Costa</a:t>
            </a:r>
          </a:p>
          <a:p>
            <a:r>
              <a:rPr lang="pt-PT" cap="none" dirty="0"/>
              <a:t>Vitor Hugo Antunes</a:t>
            </a:r>
          </a:p>
          <a:p>
            <a:r>
              <a:rPr lang="pt-PT" cap="none" dirty="0"/>
              <a:t>Yuri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C5EAE72-3D24-4A03-9BDF-FBE8C100A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5" y="396836"/>
            <a:ext cx="4992158" cy="6058999"/>
            <a:chOff x="423335" y="396836"/>
            <a:chExt cx="4992158" cy="605899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76F2A6D-EB50-477B-BD17-230CCC88F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5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8FBA8B6C-1D72-481E-A101-FBBBF888B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170217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46FCD9A8-07DA-4FCE-B3CC-44762A40BD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3545327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pic>
        <p:nvPicPr>
          <p:cNvPr id="1026" name="Picture 2" descr="Resultado de imagem para estg">
            <a:extLst>
              <a:ext uri="{FF2B5EF4-FFF2-40B4-BE49-F238E27FC236}">
                <a16:creationId xmlns:a16="http://schemas.microsoft.com/office/drawing/2014/main" id="{B1B367D0-0DF8-420F-A100-C39868530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31"/>
          <a:stretch/>
        </p:blipFill>
        <p:spPr bwMode="auto">
          <a:xfrm>
            <a:off x="423334" y="2426777"/>
            <a:ext cx="2965365" cy="222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5C3C9BB6-57F3-4B7D-9457-B7F7322B5BE1}"/>
              </a:ext>
            </a:extLst>
          </p:cNvPr>
          <p:cNvSpPr txBox="1">
            <a:spLocks/>
          </p:cNvSpPr>
          <p:nvPr/>
        </p:nvSpPr>
        <p:spPr bwMode="gray">
          <a:xfrm>
            <a:off x="5547802" y="1682212"/>
            <a:ext cx="5575810" cy="21437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60000"/>
              </a:lnSpc>
            </a:pPr>
            <a:r>
              <a:rPr lang="pt-PT" sz="4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Plásticos e Processos de Transformação </a:t>
            </a:r>
            <a:endParaRPr lang="pt-PT" sz="4600" b="1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DD27ED-A162-4578-A630-3FB87F556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1613" y="4448957"/>
            <a:ext cx="4126345" cy="213360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PT" sz="3600" b="1" dirty="0">
                <a:solidFill>
                  <a:srgbClr val="BA28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TesP </a:t>
            </a:r>
            <a:br>
              <a:rPr lang="pt-PT" sz="3600" b="1" dirty="0">
                <a:solidFill>
                  <a:srgbClr val="BA28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pt-PT" sz="3600" b="1" dirty="0">
                <a:solidFill>
                  <a:srgbClr val="BA28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Projeto de Moldes</a:t>
            </a:r>
            <a:br>
              <a:rPr lang="pt-PT" sz="4600" dirty="0"/>
            </a:br>
            <a:br>
              <a:rPr lang="pt-PT" sz="4900" dirty="0"/>
            </a:br>
            <a:r>
              <a:rPr lang="pt-PT" sz="2700" b="1" i="1" dirty="0">
                <a:solidFill>
                  <a:schemeClr val="tx1"/>
                </a:solidFill>
              </a:rPr>
              <a:t>2019/2020</a:t>
            </a:r>
            <a:r>
              <a:rPr lang="pt-PT" sz="2700" b="1" dirty="0">
                <a:solidFill>
                  <a:schemeClr val="tx1"/>
                </a:solidFill>
              </a:rPr>
              <a:t> </a:t>
            </a:r>
            <a:br>
              <a:rPr lang="pt-PT" sz="2700" b="1" dirty="0">
                <a:solidFill>
                  <a:schemeClr val="tx1"/>
                </a:solidFill>
              </a:rPr>
            </a:br>
            <a:r>
              <a:rPr lang="pt-PT" sz="2700" b="1" dirty="0">
                <a:solidFill>
                  <a:schemeClr val="tx1"/>
                </a:solidFill>
              </a:rPr>
              <a:t>1ºano 2ºsem</a:t>
            </a:r>
            <a:endParaRPr lang="pt-PT" sz="4600" b="1" dirty="0">
              <a:solidFill>
                <a:schemeClr val="tx1"/>
              </a:solidFill>
            </a:endParaRPr>
          </a:p>
        </p:txBody>
      </p:sp>
      <p:pic>
        <p:nvPicPr>
          <p:cNvPr id="4" name="Picture 2" descr="Resultado de imagem para ipleiria logo">
            <a:extLst>
              <a:ext uri="{FF2B5EF4-FFF2-40B4-BE49-F238E27FC236}">
                <a16:creationId xmlns:a16="http://schemas.microsoft.com/office/drawing/2014/main" id="{F7BB966D-B215-4EED-828A-0824F1CBB1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138" t="-15075" r="34833" b="16240"/>
          <a:stretch/>
        </p:blipFill>
        <p:spPr bwMode="auto">
          <a:xfrm>
            <a:off x="604878" y="181757"/>
            <a:ext cx="4393079" cy="222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578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1746D38-2A86-4BD8-B2A9-83BE1FEC40FE}"/>
              </a:ext>
            </a:extLst>
          </p:cNvPr>
          <p:cNvSpPr/>
          <p:nvPr/>
        </p:nvSpPr>
        <p:spPr>
          <a:xfrm>
            <a:off x="1154955" y="1877314"/>
            <a:ext cx="10275045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Pesquisa e descrição de processo de transformação de plástico</a:t>
            </a:r>
            <a:endParaRPr lang="pt-PT" sz="5400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9599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D27ED-A162-4578-A630-3FB87F556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962855"/>
            <a:ext cx="8825658" cy="1466145"/>
          </a:xfrm>
        </p:spPr>
        <p:txBody>
          <a:bodyPr/>
          <a:lstStyle/>
          <a:p>
            <a:pPr algn="ctr"/>
            <a:r>
              <a:rPr lang="pt-PT" dirty="0"/>
              <a:t>Injeção de Espuma Estrutural</a:t>
            </a:r>
          </a:p>
        </p:txBody>
      </p:sp>
    </p:spTree>
    <p:extLst>
      <p:ext uri="{BB962C8B-B14F-4D97-AF65-F5344CB8AC3E}">
        <p14:creationId xmlns:p14="http://schemas.microsoft.com/office/powerpoint/2010/main" val="300391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F1680-DACD-42C6-9D43-9EC6674C8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335" y="569797"/>
            <a:ext cx="7729407" cy="1335171"/>
          </a:xfrm>
        </p:spPr>
        <p:txBody>
          <a:bodyPr/>
          <a:lstStyle/>
          <a:p>
            <a:r>
              <a:rPr lang="pt-PT" dirty="0"/>
              <a:t>Injeção de Espuma Estrutural</a:t>
            </a:r>
            <a:br>
              <a:rPr lang="pt-PT" dirty="0"/>
            </a:b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7B3E07-5E35-4891-8977-3ADADD1F2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6304" y="3968569"/>
            <a:ext cx="9533470" cy="2895600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O riso é uma demonstração biológica que foi feita uma nova conexão mental.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pt-PT" sz="2400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pt-PT" sz="2400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pt-PT" sz="2400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pt-PT" sz="2400" dirty="0">
              <a:latin typeface="+mj-lt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79998A4-5E72-4025-B9A9-2064CB78CF5A}"/>
              </a:ext>
            </a:extLst>
          </p:cNvPr>
          <p:cNvSpPr/>
          <p:nvPr/>
        </p:nvSpPr>
        <p:spPr>
          <a:xfrm>
            <a:off x="2231296" y="1647819"/>
            <a:ext cx="772940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Tipo de Materiais</a:t>
            </a:r>
            <a:endParaRPr lang="pt-PT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6710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F1680-DACD-42C6-9D43-9EC6674C8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4591" y="839732"/>
            <a:ext cx="8825659" cy="1379755"/>
          </a:xfrm>
        </p:spPr>
        <p:txBody>
          <a:bodyPr/>
          <a:lstStyle/>
          <a:p>
            <a:r>
              <a:rPr lang="pt-PT" dirty="0">
                <a:solidFill>
                  <a:srgbClr val="FFFFFF"/>
                </a:solidFill>
              </a:rPr>
              <a:t>Modos de pensamento criativo</a:t>
            </a:r>
            <a:br>
              <a:rPr lang="pt-PT" dirty="0"/>
            </a:b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7B3E07-5E35-4891-8977-3ADADD1F2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24591" y="3994275"/>
            <a:ext cx="8825659" cy="247650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sz="2400" dirty="0"/>
              <a:t> </a:t>
            </a:r>
            <a:r>
              <a:rPr lang="pt-PT" sz="2400" dirty="0">
                <a:solidFill>
                  <a:schemeClr val="tx1"/>
                </a:solidFill>
              </a:rPr>
              <a:t>Atenção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sz="2400" dirty="0">
                <a:solidFill>
                  <a:schemeClr val="tx1"/>
                </a:solidFill>
              </a:rPr>
              <a:t>Evasão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sz="2400" dirty="0">
                <a:solidFill>
                  <a:schemeClr val="tx1"/>
                </a:solidFill>
              </a:rPr>
              <a:t>Movimento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8B699D4-3805-429A-8653-2155675C5176}"/>
              </a:ext>
            </a:extLst>
          </p:cNvPr>
          <p:cNvSpPr/>
          <p:nvPr/>
        </p:nvSpPr>
        <p:spPr>
          <a:xfrm>
            <a:off x="2733080" y="1625475"/>
            <a:ext cx="672583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Mecanismos</a:t>
            </a:r>
          </a:p>
        </p:txBody>
      </p:sp>
    </p:spTree>
    <p:extLst>
      <p:ext uri="{BB962C8B-B14F-4D97-AF65-F5344CB8AC3E}">
        <p14:creationId xmlns:p14="http://schemas.microsoft.com/office/powerpoint/2010/main" val="740995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F1680-DACD-42C6-9D43-9EC6674C8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210" y="692412"/>
            <a:ext cx="8825659" cy="1379755"/>
          </a:xfrm>
        </p:spPr>
        <p:txBody>
          <a:bodyPr/>
          <a:lstStyle/>
          <a:p>
            <a:r>
              <a:rPr lang="pt-PT" dirty="0">
                <a:solidFill>
                  <a:srgbClr val="FFFFFF"/>
                </a:solidFill>
              </a:rPr>
              <a:t>Modos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pt-PT" dirty="0">
                <a:solidFill>
                  <a:srgbClr val="FFFFFF"/>
                </a:solidFill>
              </a:rPr>
              <a:t>pensamento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pt-PT" dirty="0">
                <a:solidFill>
                  <a:srgbClr val="FFFFFF"/>
                </a:solidFill>
              </a:rPr>
              <a:t>criativo</a:t>
            </a:r>
            <a:br>
              <a:rPr lang="pt-PT" dirty="0"/>
            </a:b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7B3E07-5E35-4891-8977-3ADADD1F2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38770" y="4409440"/>
            <a:ext cx="9533470" cy="2895600"/>
          </a:xfrm>
        </p:spPr>
        <p:txBody>
          <a:bodyPr>
            <a:noAutofit/>
          </a:bodyPr>
          <a:lstStyle/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pt-PT" sz="2400" dirty="0">
                <a:latin typeface="+mj-lt"/>
                <a:cs typeface="Arial" panose="020B0604020202020204" pitchFamily="34" charset="0"/>
              </a:rPr>
              <a:t>Geração de palavras aleatórias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pt-PT" sz="2400" dirty="0">
                <a:latin typeface="+mj-lt"/>
                <a:cs typeface="Arial" panose="020B0604020202020204" pitchFamily="34" charset="0"/>
              </a:rPr>
              <a:t>Rompimento das regras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pt-PT" sz="2400" dirty="0">
                <a:latin typeface="+mj-lt"/>
                <a:cs typeface="Arial" panose="020B0604020202020204" pitchFamily="34" charset="0"/>
              </a:rPr>
              <a:t>Troca de papeis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pt-PT" sz="2400" dirty="0">
                <a:latin typeface="+mj-lt"/>
                <a:cs typeface="Arial" panose="020B0604020202020204" pitchFamily="34" charset="0"/>
              </a:rPr>
              <a:t>Modificação dos elementos (ou cena)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pt-PT" sz="2400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pt-PT" sz="2400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pt-PT" sz="2400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pt-PT" sz="2400" dirty="0">
              <a:latin typeface="+mj-lt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79998A4-5E72-4025-B9A9-2064CB78CF5A}"/>
              </a:ext>
            </a:extLst>
          </p:cNvPr>
          <p:cNvSpPr/>
          <p:nvPr/>
        </p:nvSpPr>
        <p:spPr>
          <a:xfrm>
            <a:off x="2733081" y="1529222"/>
            <a:ext cx="672583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Ferramentas</a:t>
            </a:r>
          </a:p>
        </p:txBody>
      </p:sp>
    </p:spTree>
    <p:extLst>
      <p:ext uri="{BB962C8B-B14F-4D97-AF65-F5344CB8AC3E}">
        <p14:creationId xmlns:p14="http://schemas.microsoft.com/office/powerpoint/2010/main" val="273287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5EC89-15C8-4486-BDFE-0197E8932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ECE84A-942C-40B0-BB3A-C1AF847AE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01916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946" y="3095145"/>
            <a:ext cx="9707010" cy="25781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PT" sz="2400" dirty="0"/>
              <a:t>Palavras retiradas ao acaso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Procurar conexão entre as palavras e o assunto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Registar todas as ideias, sem qualquer julgamento ou critica</a:t>
            </a:r>
          </a:p>
          <a:p>
            <a:pPr marL="0" indent="0">
              <a:buNone/>
            </a:pPr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2875365" y="1191682"/>
            <a:ext cx="672583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Palavras aleatórias</a:t>
            </a:r>
          </a:p>
        </p:txBody>
      </p:sp>
    </p:spTree>
    <p:extLst>
      <p:ext uri="{BB962C8B-B14F-4D97-AF65-F5344CB8AC3E}">
        <p14:creationId xmlns:p14="http://schemas.microsoft.com/office/powerpoint/2010/main" val="38444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946" y="3095146"/>
            <a:ext cx="9707010" cy="24051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Problema  </a:t>
            </a:r>
            <a:r>
              <a:rPr lang="pt-PT" sz="2400" u="sng" dirty="0"/>
              <a:t>Má relação com fornecedores </a:t>
            </a:r>
            <a:r>
              <a:rPr lang="pt-PT" sz="2400" b="1" dirty="0"/>
              <a:t>(atenção) 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Palavra escolhida </a:t>
            </a:r>
            <a:r>
              <a:rPr lang="pt-PT" sz="2400" u="sng" dirty="0"/>
              <a:t>Janela</a:t>
            </a:r>
            <a:r>
              <a:rPr lang="pt-PT" sz="2400" dirty="0"/>
              <a:t>  </a:t>
            </a:r>
            <a:r>
              <a:rPr lang="pt-PT" sz="2400" b="1" dirty="0"/>
              <a:t>(evasão/fuga)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Ideias relacionando a palavra e o problema  </a:t>
            </a:r>
            <a:r>
              <a:rPr lang="pt-PT" sz="2400" b="1" dirty="0"/>
              <a:t>(movimento) </a:t>
            </a:r>
          </a:p>
          <a:p>
            <a:pPr>
              <a:lnSpc>
                <a:spcPct val="150000"/>
              </a:lnSpc>
            </a:pPr>
            <a:endParaRPr lang="pt-PT" sz="2400" b="1" u="sng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2875365" y="1191682"/>
            <a:ext cx="672583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Palavras aleatórias</a:t>
            </a:r>
          </a:p>
        </p:txBody>
      </p:sp>
    </p:spTree>
    <p:extLst>
      <p:ext uri="{BB962C8B-B14F-4D97-AF65-F5344CB8AC3E}">
        <p14:creationId xmlns:p14="http://schemas.microsoft.com/office/powerpoint/2010/main" val="138259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946" y="2507673"/>
            <a:ext cx="9707010" cy="46828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Listar as premissas, regras, normas ou aspetos dados como certos na atual situação </a:t>
            </a:r>
            <a:r>
              <a:rPr lang="pt-PT" sz="2400" b="1" dirty="0"/>
              <a:t>(atenção)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Através de uma </a:t>
            </a:r>
            <a:r>
              <a:rPr lang="pt-PT" sz="2400" b="1" dirty="0"/>
              <a:t>provocação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Admitir que a situação atual pode ser alterada </a:t>
            </a:r>
            <a:r>
              <a:rPr lang="pt-PT" sz="2400" b="1" dirty="0"/>
              <a:t>(evasão)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Através da mesma </a:t>
            </a:r>
            <a:r>
              <a:rPr lang="pt-PT" sz="2400" b="1" dirty="0"/>
              <a:t>provocação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Geração de ideias </a:t>
            </a:r>
            <a:r>
              <a:rPr lang="pt-PT" sz="2400" b="1" dirty="0"/>
              <a:t>(movimento)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Rompimento das regras</a:t>
            </a:r>
          </a:p>
        </p:txBody>
      </p:sp>
    </p:spTree>
    <p:extLst>
      <p:ext uri="{BB962C8B-B14F-4D97-AF65-F5344CB8AC3E}">
        <p14:creationId xmlns:p14="http://schemas.microsoft.com/office/powerpoint/2010/main" val="307754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a 10">
            <a:extLst>
              <a:ext uri="{FF2B5EF4-FFF2-40B4-BE49-F238E27FC236}">
                <a16:creationId xmlns:a16="http://schemas.microsoft.com/office/drawing/2014/main" id="{7C1802CE-27F9-4B12-A131-2C587B1DE0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2474132"/>
              </p:ext>
            </p:extLst>
          </p:nvPr>
        </p:nvGraphicFramePr>
        <p:xfrm>
          <a:off x="491836" y="2784762"/>
          <a:ext cx="11208327" cy="4488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4" name="Conexão reta unidirecional 13">
            <a:extLst>
              <a:ext uri="{FF2B5EF4-FFF2-40B4-BE49-F238E27FC236}">
                <a16:creationId xmlns:a16="http://schemas.microsoft.com/office/drawing/2014/main" id="{530E9BBA-C17B-4702-A7E7-8123AD8C2285}"/>
              </a:ext>
            </a:extLst>
          </p:cNvPr>
          <p:cNvCxnSpPr>
            <a:cxnSpLocks/>
          </p:cNvCxnSpPr>
          <p:nvPr/>
        </p:nvCxnSpPr>
        <p:spPr>
          <a:xfrm>
            <a:off x="3519055" y="5091544"/>
            <a:ext cx="145472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C9744020-CAC1-4172-BFDE-4D507818C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491" y="825886"/>
            <a:ext cx="8520545" cy="706964"/>
          </a:xfrm>
        </p:spPr>
        <p:txBody>
          <a:bodyPr/>
          <a:lstStyle/>
          <a:p>
            <a:r>
              <a:rPr lang="pt-PT" sz="4000" b="1" dirty="0"/>
              <a:t>Processo do Pensamento Criativo</a:t>
            </a:r>
          </a:p>
        </p:txBody>
      </p:sp>
      <p:sp>
        <p:nvSpPr>
          <p:cNvPr id="12" name="Explosão: 14 Pontos 11">
            <a:extLst>
              <a:ext uri="{FF2B5EF4-FFF2-40B4-BE49-F238E27FC236}">
                <a16:creationId xmlns:a16="http://schemas.microsoft.com/office/drawing/2014/main" id="{E20DE290-6412-45AA-91FC-5782CAC89E7C}"/>
              </a:ext>
            </a:extLst>
          </p:cNvPr>
          <p:cNvSpPr/>
          <p:nvPr/>
        </p:nvSpPr>
        <p:spPr>
          <a:xfrm>
            <a:off x="3706091" y="4581622"/>
            <a:ext cx="969818" cy="1073727"/>
          </a:xfrm>
          <a:prstGeom prst="irregularSeal2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C5C20C5-C45E-44A8-979C-35D9E8B3A302}"/>
              </a:ext>
            </a:extLst>
          </p:cNvPr>
          <p:cNvSpPr txBox="1"/>
          <p:nvPr/>
        </p:nvSpPr>
        <p:spPr>
          <a:xfrm>
            <a:off x="7569346" y="4906878"/>
            <a:ext cx="14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Movimento</a:t>
            </a:r>
          </a:p>
        </p:txBody>
      </p:sp>
    </p:spTree>
    <p:extLst>
      <p:ext uri="{BB962C8B-B14F-4D97-AF65-F5344CB8AC3E}">
        <p14:creationId xmlns:p14="http://schemas.microsoft.com/office/powerpoint/2010/main" val="135016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P spid="12" grpId="0" animBg="1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946" y="3095145"/>
            <a:ext cx="9707010" cy="30147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Frota de viaturas bastante envelhecida </a:t>
            </a:r>
            <a:r>
              <a:rPr lang="pt-PT" sz="2400" b="1" dirty="0"/>
              <a:t>(atenção)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Admitir que a situação atual pode ser alterada </a:t>
            </a:r>
            <a:r>
              <a:rPr lang="pt-PT" sz="2400" b="1" dirty="0"/>
              <a:t>(evasão)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Geração de ideias </a:t>
            </a:r>
            <a:r>
              <a:rPr lang="pt-PT" sz="2400" b="1" dirty="0"/>
              <a:t>(movimento)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Rompimento das regras</a:t>
            </a:r>
          </a:p>
        </p:txBody>
      </p:sp>
    </p:spTree>
    <p:extLst>
      <p:ext uri="{BB962C8B-B14F-4D97-AF65-F5344CB8AC3E}">
        <p14:creationId xmlns:p14="http://schemas.microsoft.com/office/powerpoint/2010/main" val="403773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0418" y="3071970"/>
            <a:ext cx="8271164" cy="301471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Compilação de tudo o que se pode ver </a:t>
            </a:r>
            <a:r>
              <a:rPr lang="pt-PT" sz="2400" b="1" dirty="0"/>
              <a:t>(atenção)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Pensar no modo como os elementos da cena poderiam ser alterados</a:t>
            </a:r>
            <a:r>
              <a:rPr lang="pt-PT" sz="2400" b="1" dirty="0"/>
              <a:t>(evasão)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Geração de ideias que possam alterar os elementos da cena </a:t>
            </a:r>
            <a:r>
              <a:rPr lang="pt-PT" sz="2400" b="1" dirty="0"/>
              <a:t>(movimento)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Modificação de cena</a:t>
            </a:r>
          </a:p>
        </p:txBody>
      </p:sp>
    </p:spTree>
    <p:extLst>
      <p:ext uri="{BB962C8B-B14F-4D97-AF65-F5344CB8AC3E}">
        <p14:creationId xmlns:p14="http://schemas.microsoft.com/office/powerpoint/2010/main" val="359798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0418" y="3429000"/>
            <a:ext cx="8271164" cy="12061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Abordar o problema </a:t>
            </a:r>
            <a:r>
              <a:rPr lang="pt-PT" sz="2400" b="1" dirty="0">
                <a:solidFill>
                  <a:schemeClr val="tx1"/>
                </a:solidFill>
              </a:rPr>
              <a:t>(atenção) </a:t>
            </a:r>
            <a:r>
              <a:rPr lang="pt-PT" sz="2400" dirty="0">
                <a:solidFill>
                  <a:schemeClr val="tx1"/>
                </a:solidFill>
              </a:rPr>
              <a:t>no papel de outro sujeito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Troca de papeis</a:t>
            </a:r>
          </a:p>
        </p:txBody>
      </p:sp>
    </p:spTree>
    <p:extLst>
      <p:ext uri="{BB962C8B-B14F-4D97-AF65-F5344CB8AC3E}">
        <p14:creationId xmlns:p14="http://schemas.microsoft.com/office/powerpoint/2010/main" val="739592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946" y="2651607"/>
            <a:ext cx="9546225" cy="40594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Registar/divulgar o problema, oportunidade ou desafio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Questionar sobre o propósito/razão pelas quais há interesse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Hierarquizar os propósitos identificados de um modo racional 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Ideias alternativas que permitam alcançar esses propósitos</a:t>
            </a:r>
          </a:p>
          <a:p>
            <a:pPr marL="0" indent="0">
              <a:lnSpc>
                <a:spcPct val="150000"/>
              </a:lnSpc>
              <a:buNone/>
            </a:pPr>
            <a:endParaRPr lang="pt-PT" sz="2400" dirty="0"/>
          </a:p>
          <a:p>
            <a:pPr>
              <a:lnSpc>
                <a:spcPct val="150000"/>
              </a:lnSpc>
            </a:pPr>
            <a:endParaRPr lang="pt-PT" sz="24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1660098" y="1191682"/>
            <a:ext cx="857148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Hierarquia de propósitos</a:t>
            </a:r>
            <a:endParaRPr lang="pt-PT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261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946" y="2651608"/>
            <a:ext cx="9235956" cy="4206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Registar o problema, oportunidade ou desafio por escrito e distribuir por todos 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Cada um regista palavras-chave desse documento, em local visível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Combinar duas dessas palavras na busca de ideias para a solução do problema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Jogo de palavras</a:t>
            </a:r>
          </a:p>
        </p:txBody>
      </p:sp>
    </p:spTree>
    <p:extLst>
      <p:ext uri="{BB962C8B-B14F-4D97-AF65-F5344CB8AC3E}">
        <p14:creationId xmlns:p14="http://schemas.microsoft.com/office/powerpoint/2010/main" val="219881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Analogias</a:t>
            </a:r>
          </a:p>
        </p:txBody>
      </p:sp>
      <p:sp>
        <p:nvSpPr>
          <p:cNvPr id="5" name="Marcador de Posição de Conteúdo 2">
            <a:extLst>
              <a:ext uri="{FF2B5EF4-FFF2-40B4-BE49-F238E27FC236}">
                <a16:creationId xmlns:a16="http://schemas.microsoft.com/office/drawing/2014/main" id="{AF3EB14D-1659-4268-9055-49EECFF3F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0418" y="3422025"/>
            <a:ext cx="8271164" cy="9233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Partilha de ideias/conceitos de outro contexto</a:t>
            </a:r>
          </a:p>
          <a:p>
            <a:pPr lvl="1">
              <a:lnSpc>
                <a:spcPct val="150000"/>
              </a:lnSpc>
            </a:pPr>
            <a:endParaRPr lang="pt-PT" sz="2200" dirty="0"/>
          </a:p>
        </p:txBody>
      </p:sp>
    </p:spTree>
    <p:extLst>
      <p:ext uri="{BB962C8B-B14F-4D97-AF65-F5344CB8AC3E}">
        <p14:creationId xmlns:p14="http://schemas.microsoft.com/office/powerpoint/2010/main" val="1174549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Analogias</a:t>
            </a:r>
          </a:p>
        </p:txBody>
      </p:sp>
      <p:sp>
        <p:nvSpPr>
          <p:cNvPr id="5" name="Marcador de Posição de Conteúdo 2">
            <a:extLst>
              <a:ext uri="{FF2B5EF4-FFF2-40B4-BE49-F238E27FC236}">
                <a16:creationId xmlns:a16="http://schemas.microsoft.com/office/drawing/2014/main" id="{AF3EB14D-1659-4268-9055-49EECFF3F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652" y="2241178"/>
            <a:ext cx="10340242" cy="4437528"/>
          </a:xfrm>
        </p:spPr>
        <p:txBody>
          <a:bodyPr>
            <a:noAutofit/>
          </a:bodyPr>
          <a:lstStyle/>
          <a:p>
            <a:pPr marL="457200" lvl="1" indent="0" algn="ctr">
              <a:lnSpc>
                <a:spcPct val="150000"/>
              </a:lnSpc>
              <a:buNone/>
            </a:pPr>
            <a:r>
              <a:rPr lang="pt-PT" sz="2400" b="1" u="sng" dirty="0"/>
              <a:t>Usadas individualmente ou cumulativamente</a:t>
            </a:r>
          </a:p>
          <a:p>
            <a:pPr lvl="1">
              <a:lnSpc>
                <a:spcPct val="150000"/>
              </a:lnSpc>
            </a:pPr>
            <a:r>
              <a:rPr lang="pt-PT" sz="2400" dirty="0"/>
              <a:t>Colocar o grupo a refletir sobre a situação análoga </a:t>
            </a:r>
          </a:p>
          <a:p>
            <a:pPr lvl="1">
              <a:lnSpc>
                <a:spcPct val="150000"/>
              </a:lnSpc>
            </a:pPr>
            <a:r>
              <a:rPr lang="pt-PT" sz="2400" dirty="0"/>
              <a:t>Convidar o grupo a discutir situações semelhantes</a:t>
            </a:r>
          </a:p>
          <a:p>
            <a:pPr lvl="1">
              <a:lnSpc>
                <a:spcPct val="150000"/>
              </a:lnSpc>
            </a:pPr>
            <a:r>
              <a:rPr lang="pt-PT" sz="2400" dirty="0"/>
              <a:t>Selecionar uma situação e forçar o grupo a descortinar a analogia</a:t>
            </a:r>
          </a:p>
          <a:p>
            <a:pPr lvl="1">
              <a:lnSpc>
                <a:spcPct val="150000"/>
              </a:lnSpc>
            </a:pPr>
            <a:r>
              <a:rPr lang="pt-PT" sz="2400" dirty="0"/>
              <a:t>Visitar local ou situação que permita recolher elementos</a:t>
            </a:r>
          </a:p>
          <a:p>
            <a:pPr lvl="1">
              <a:lnSpc>
                <a:spcPct val="150000"/>
              </a:lnSpc>
            </a:pPr>
            <a:r>
              <a:rPr lang="pt-PT" sz="2400" dirty="0"/>
              <a:t>Assumir o papel de alguém em funções no contexto análogo </a:t>
            </a:r>
          </a:p>
          <a:p>
            <a:pPr lvl="1">
              <a:lnSpc>
                <a:spcPct val="150000"/>
              </a:lnSpc>
            </a:pPr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1800748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Cinemática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9666052D-A4E7-480B-AF70-FD4831D43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0418" y="2549712"/>
            <a:ext cx="9235956" cy="4084170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pt-PT" sz="2400" b="1" dirty="0"/>
              <a:t>1º</a:t>
            </a:r>
          </a:p>
          <a:p>
            <a:pPr lvl="2">
              <a:lnSpc>
                <a:spcPct val="150000"/>
              </a:lnSpc>
            </a:pPr>
            <a:r>
              <a:rPr lang="pt-PT" sz="2200" dirty="0"/>
              <a:t>Apresentar foto/vídeo da situação</a:t>
            </a:r>
          </a:p>
          <a:p>
            <a:pPr lvl="2">
              <a:lnSpc>
                <a:spcPct val="150000"/>
              </a:lnSpc>
            </a:pPr>
            <a:r>
              <a:rPr lang="pt-PT" sz="2200" dirty="0"/>
              <a:t>Imaginar mentalmente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pt-PT" sz="2400" b="1" dirty="0"/>
              <a:t>2º</a:t>
            </a:r>
          </a:p>
          <a:p>
            <a:pPr lvl="2">
              <a:lnSpc>
                <a:spcPct val="150000"/>
              </a:lnSpc>
            </a:pPr>
            <a:r>
              <a:rPr lang="pt-PT" sz="2200" dirty="0"/>
              <a:t>Explorar a cena em movimento lento e paragem</a:t>
            </a:r>
          </a:p>
          <a:p>
            <a:pPr lvl="2">
              <a:lnSpc>
                <a:spcPct val="150000"/>
              </a:lnSpc>
            </a:pPr>
            <a:r>
              <a:rPr lang="pt-PT" sz="2200" dirty="0"/>
              <a:t>Discutir as imagens e descobrir coisas não vistas antes</a:t>
            </a:r>
          </a:p>
        </p:txBody>
      </p:sp>
    </p:spTree>
    <p:extLst>
      <p:ext uri="{BB962C8B-B14F-4D97-AF65-F5344CB8AC3E}">
        <p14:creationId xmlns:p14="http://schemas.microsoft.com/office/powerpoint/2010/main" val="121774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5EC89-15C8-4486-BDFE-0197E8932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Ferramentas assentes em conceitos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ECE84A-942C-40B0-BB3A-C1AF847AE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8466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C5ED4-697E-4FB6-9BCE-F52C07C75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293" y="838200"/>
            <a:ext cx="8761413" cy="706964"/>
          </a:xfrm>
        </p:spPr>
        <p:txBody>
          <a:bodyPr/>
          <a:lstStyle/>
          <a:p>
            <a:r>
              <a:rPr lang="pt-PT" dirty="0"/>
              <a:t>Ferramentas assentes em conceitos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AB22941-9E2C-424C-A0FE-11BFD7093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3417" y="3429000"/>
            <a:ext cx="8761412" cy="3416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Triangulo de Conceitos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Leque de conceitos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Conceitos de mudança</a:t>
            </a:r>
          </a:p>
        </p:txBody>
      </p:sp>
    </p:spTree>
    <p:extLst>
      <p:ext uri="{BB962C8B-B14F-4D97-AF65-F5344CB8AC3E}">
        <p14:creationId xmlns:p14="http://schemas.microsoft.com/office/powerpoint/2010/main" val="181166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CAB2B5-B983-4C47-96E7-5BF8C7012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293" y="841858"/>
            <a:ext cx="8761413" cy="706964"/>
          </a:xfrm>
        </p:spPr>
        <p:txBody>
          <a:bodyPr/>
          <a:lstStyle/>
          <a:p>
            <a:r>
              <a:rPr lang="pt-PT" dirty="0"/>
              <a:t>Ferramentas assentes em conceitos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51AE14C-71A9-4B64-8410-7D0338BF1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3739240"/>
            <a:ext cx="9321753" cy="284018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“No campo da observação, o acaso favorece apenas as mentes preparadas” – Pasteur</a:t>
            </a:r>
          </a:p>
          <a:p>
            <a:pPr marL="0" indent="0">
              <a:lnSpc>
                <a:spcPct val="150000"/>
              </a:lnSpc>
              <a:buNone/>
            </a:pPr>
            <a:endParaRPr lang="pt-PT" sz="2400" dirty="0"/>
          </a:p>
          <a:p>
            <a:pPr>
              <a:lnSpc>
                <a:spcPct val="150000"/>
              </a:lnSpc>
            </a:pPr>
            <a:r>
              <a:rPr lang="pt-PT" sz="2400" dirty="0"/>
              <a:t>“As sementes da descoberta flutuam constantemente à nossa volta, mas apenas lançam raízes nas mentes bem preparadas para as receber” – Joseph Henry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FC4F04E-785F-4AFC-8BDD-3671338447EE}"/>
              </a:ext>
            </a:extLst>
          </p:cNvPr>
          <p:cNvSpPr txBox="1"/>
          <p:nvPr/>
        </p:nvSpPr>
        <p:spPr>
          <a:xfrm>
            <a:off x="1154952" y="2720232"/>
            <a:ext cx="1030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/>
              <a:t>Importância da </a:t>
            </a:r>
            <a:r>
              <a:rPr lang="pt-PT" sz="2800" b="1" i="1" u="sng" dirty="0"/>
              <a:t>sagacidade</a:t>
            </a:r>
            <a:r>
              <a:rPr lang="pt-PT" sz="2800" b="1" dirty="0"/>
              <a:t> no pensamento criativo</a:t>
            </a:r>
          </a:p>
        </p:txBody>
      </p:sp>
    </p:spTree>
    <p:extLst>
      <p:ext uri="{BB962C8B-B14F-4D97-AF65-F5344CB8AC3E}">
        <p14:creationId xmlns:p14="http://schemas.microsoft.com/office/powerpoint/2010/main" val="294721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664A0-7898-4EED-928B-A8FBEE40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189" y="484718"/>
            <a:ext cx="8761413" cy="706964"/>
          </a:xfrm>
        </p:spPr>
        <p:txBody>
          <a:bodyPr/>
          <a:lstStyle/>
          <a:p>
            <a:r>
              <a:rPr lang="pt-PT" dirty="0"/>
              <a:t>Ferramentas assentes em conceitos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1E7BEE8-B95F-4927-9217-16EC65379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4366" y="2993730"/>
            <a:ext cx="9543267" cy="349851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pt-PT" sz="2800" dirty="0"/>
              <a:t>1º- selecionar 1 ou vários conceitos para resolver um problema</a:t>
            </a:r>
          </a:p>
          <a:p>
            <a:pPr>
              <a:lnSpc>
                <a:spcPct val="170000"/>
              </a:lnSpc>
            </a:pPr>
            <a:r>
              <a:rPr lang="pt-PT" sz="2800" dirty="0"/>
              <a:t>2º- gerar ideias dentro de cada conceito</a:t>
            </a:r>
          </a:p>
          <a:p>
            <a:pPr>
              <a:lnSpc>
                <a:spcPct val="170000"/>
              </a:lnSpc>
            </a:pPr>
            <a:r>
              <a:rPr lang="pt-PT" sz="2800" dirty="0"/>
              <a:t>3º- selecionar as ideias que apresentem melhores resultados</a:t>
            </a:r>
          </a:p>
          <a:p>
            <a:pPr>
              <a:lnSpc>
                <a:spcPct val="170000"/>
              </a:lnSpc>
            </a:pPr>
            <a:r>
              <a:rPr lang="pt-PT" sz="2800" dirty="0"/>
              <a:t>Também é possível que surjam conceitos e ideias de outras empresas ou setores de atividade</a:t>
            </a:r>
          </a:p>
          <a:p>
            <a:pPr>
              <a:lnSpc>
                <a:spcPct val="170000"/>
              </a:lnSpc>
            </a:pPr>
            <a:endParaRPr lang="pt-PT" sz="2800" dirty="0"/>
          </a:p>
          <a:p>
            <a:pPr>
              <a:lnSpc>
                <a:spcPct val="170000"/>
              </a:lnSpc>
            </a:pPr>
            <a:endParaRPr lang="pt-PT" sz="2800" dirty="0"/>
          </a:p>
          <a:p>
            <a:pPr>
              <a:lnSpc>
                <a:spcPct val="170000"/>
              </a:lnSpc>
            </a:pPr>
            <a:endParaRPr lang="pt-PT" sz="28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FEF7809-ADDD-4779-8FB5-B3822B61C09B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Triangulo de conceitos</a:t>
            </a:r>
          </a:p>
        </p:txBody>
      </p:sp>
    </p:spTree>
    <p:extLst>
      <p:ext uri="{BB962C8B-B14F-4D97-AF65-F5344CB8AC3E}">
        <p14:creationId xmlns:p14="http://schemas.microsoft.com/office/powerpoint/2010/main" val="74507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086A0F2-BEE0-4AE7-B995-B7D04882A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391" y="422649"/>
            <a:ext cx="6203218" cy="601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40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68EA8FA-3DA2-4B8B-8AB3-B05E1ACB7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189" y="2502695"/>
            <a:ext cx="10948895" cy="4355305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pt-PT" sz="2400" dirty="0">
                <a:latin typeface="+mj-lt"/>
              </a:rPr>
              <a:t>Apropriado para processos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pt-PT" sz="2400" dirty="0">
                <a:latin typeface="+mj-lt"/>
              </a:rPr>
              <a:t>Decompor o processo em varias partes/setores;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pt-PT" sz="2400" dirty="0">
                <a:latin typeface="+mj-lt"/>
              </a:rPr>
              <a:t> Identificar os conceitos dentro de cada uma dessas partes;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pt-PT" sz="2400" dirty="0">
                <a:latin typeface="+mj-lt"/>
              </a:rPr>
              <a:t>Provocação com o reconhecimentos que há varias e diferentes maneiras de "fazer" essas partes;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pt-PT" sz="2400" dirty="0">
                <a:latin typeface="+mj-lt"/>
              </a:rPr>
              <a:t>Recolher ideias acerca das alternativas de atuação. 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C7162AE-ADF6-4855-8BE5-0C71F672FFDD}"/>
              </a:ext>
            </a:extLst>
          </p:cNvPr>
          <p:cNvSpPr txBox="1">
            <a:spLocks/>
          </p:cNvSpPr>
          <p:nvPr/>
        </p:nvSpPr>
        <p:spPr bwMode="gray">
          <a:xfrm>
            <a:off x="1715293" y="48471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PT" dirty="0"/>
              <a:t>Ferramentas assentes em conceitos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BA75138-6264-4C81-9B1B-BDB72E2413CA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Leque de conceitos</a:t>
            </a:r>
          </a:p>
        </p:txBody>
      </p:sp>
    </p:spTree>
    <p:extLst>
      <p:ext uri="{BB962C8B-B14F-4D97-AF65-F5344CB8AC3E}">
        <p14:creationId xmlns:p14="http://schemas.microsoft.com/office/powerpoint/2010/main" val="314322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2E7ADD3-C4D2-420E-8C20-4892373FC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501" y="342632"/>
            <a:ext cx="9662997" cy="61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697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3EEF0FD-3721-4D7C-A3C8-9E88DC13B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294" y="3034839"/>
            <a:ext cx="8761412" cy="34163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PT" sz="2400" dirty="0"/>
              <a:t>Uteis no desenvolvimento de ideias especificas para mudanças que levaram a melhorias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Temos uma lista de conceitos que podem ser usados como provocação e conduzir à evasão e movimento</a:t>
            </a:r>
          </a:p>
          <a:p>
            <a:endParaRPr lang="pt-PT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07ACC2F-0066-48A8-85E6-9CF4FCABEA29}"/>
              </a:ext>
            </a:extLst>
          </p:cNvPr>
          <p:cNvSpPr txBox="1">
            <a:spLocks/>
          </p:cNvSpPr>
          <p:nvPr/>
        </p:nvSpPr>
        <p:spPr bwMode="gray">
          <a:xfrm>
            <a:off x="1960418" y="48471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PT" dirty="0"/>
              <a:t>Ferramentas assentes em conceitos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F29C40F-D20D-4283-BA0D-698F23922AA1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</a:t>
            </a:r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onceito de Mudança</a:t>
            </a:r>
          </a:p>
        </p:txBody>
      </p:sp>
    </p:spTree>
    <p:extLst>
      <p:ext uri="{BB962C8B-B14F-4D97-AF65-F5344CB8AC3E}">
        <p14:creationId xmlns:p14="http://schemas.microsoft.com/office/powerpoint/2010/main" val="109138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captura de ecrã&#10;&#10;Descrição gerada automaticamente">
            <a:extLst>
              <a:ext uri="{FF2B5EF4-FFF2-40B4-BE49-F238E27FC236}">
                <a16:creationId xmlns:a16="http://schemas.microsoft.com/office/drawing/2014/main" id="{F73BFF0C-2DA4-4B50-88C6-B9B72F5C7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733" y="274766"/>
            <a:ext cx="8674534" cy="611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11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AB2579F-01E4-4D4D-91A1-7E1615A21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2656">
            <a:off x="1461068" y="419886"/>
            <a:ext cx="8856206" cy="601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41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78CD113-494C-4EF6-8062-66BED33F8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1832" y="2998694"/>
            <a:ext cx="8968335" cy="2944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O mesmo conceito pode ser aplicável em mais do que uma categoria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Os conceitos estão interligados, ao mudar uma coisa posso estar também a mudar outra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AC2EB39-D2AB-4B7D-85A0-D27D7CAECA1D}"/>
              </a:ext>
            </a:extLst>
          </p:cNvPr>
          <p:cNvSpPr txBox="1">
            <a:spLocks/>
          </p:cNvSpPr>
          <p:nvPr/>
        </p:nvSpPr>
        <p:spPr bwMode="gray">
          <a:xfrm>
            <a:off x="1960418" y="48471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PT" dirty="0"/>
              <a:t>Ferramentas assentes em conceitos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7A28375-C5BE-477A-8C03-85A1A00CF621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</a:t>
            </a:r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onceito de Mudança</a:t>
            </a:r>
          </a:p>
        </p:txBody>
      </p:sp>
    </p:spTree>
    <p:extLst>
      <p:ext uri="{BB962C8B-B14F-4D97-AF65-F5344CB8AC3E}">
        <p14:creationId xmlns:p14="http://schemas.microsoft.com/office/powerpoint/2010/main" val="80457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4C4898A-190D-4456-AB55-57A8C7FD2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0418" y="2857786"/>
            <a:ext cx="9149930" cy="37704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1º atenção – Necessidade de aumentar a capacidade de fabricação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2º rever listagem de conceitos de mudança e escolher o mais pertinente para a discussão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3º usar esse conceito como fonte provocadora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4º recolher ideias criativas geradas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558E3CB-BDE8-4953-B2B1-F4C0D2E63284}"/>
              </a:ext>
            </a:extLst>
          </p:cNvPr>
          <p:cNvSpPr/>
          <p:nvPr/>
        </p:nvSpPr>
        <p:spPr>
          <a:xfrm>
            <a:off x="4000500" y="2237201"/>
            <a:ext cx="58198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3200" b="1" dirty="0"/>
              <a:t>Exemplo de processo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D37BA58-440C-4620-A71D-C84985917114}"/>
              </a:ext>
            </a:extLst>
          </p:cNvPr>
          <p:cNvSpPr txBox="1">
            <a:spLocks/>
          </p:cNvSpPr>
          <p:nvPr/>
        </p:nvSpPr>
        <p:spPr bwMode="gray">
          <a:xfrm>
            <a:off x="1960418" y="48471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PT" dirty="0"/>
              <a:t>Ferramentas assentes em conceitos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37970FE-4791-43F6-BD08-98CF0921BFFB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</a:t>
            </a:r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onceito de Mudança</a:t>
            </a:r>
          </a:p>
        </p:txBody>
      </p:sp>
    </p:spTree>
    <p:extLst>
      <p:ext uri="{BB962C8B-B14F-4D97-AF65-F5344CB8AC3E}">
        <p14:creationId xmlns:p14="http://schemas.microsoft.com/office/powerpoint/2010/main" val="351632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48F46-F649-49AE-A7C5-F4A36AFDB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139" y="2565171"/>
            <a:ext cx="5417969" cy="706964"/>
          </a:xfrm>
        </p:spPr>
        <p:txBody>
          <a:bodyPr/>
          <a:lstStyle/>
          <a:p>
            <a:r>
              <a:rPr lang="pt-PT" sz="2800" b="1" dirty="0">
                <a:solidFill>
                  <a:schemeClr val="tx1"/>
                </a:solidFill>
              </a:rPr>
              <a:t>Metodologias alternativas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2C2E44E-3D22-43A1-B3C9-414AF9C96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294" y="3722295"/>
            <a:ext cx="8761412" cy="34163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pt-PT" sz="2400" dirty="0"/>
              <a:t>Ideia -&gt; conceito -&gt; novas ideias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pt-PT" sz="2400" dirty="0"/>
              <a:t>Conceito aleatório -&gt; novas ideias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pt-PT" sz="2400" dirty="0"/>
              <a:t>Conflitos de soma variável versus de soma nula</a:t>
            </a:r>
          </a:p>
          <a:p>
            <a:pPr marL="0" indent="0">
              <a:buNone/>
            </a:pPr>
            <a:endParaRPr lang="pt-PT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3A51434-CC78-43F5-910D-BA9996D334D9}"/>
              </a:ext>
            </a:extLst>
          </p:cNvPr>
          <p:cNvSpPr txBox="1">
            <a:spLocks/>
          </p:cNvSpPr>
          <p:nvPr/>
        </p:nvSpPr>
        <p:spPr bwMode="gray">
          <a:xfrm>
            <a:off x="1960418" y="48471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PT" dirty="0"/>
              <a:t>Ferramentas assentes em conceitos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0A2819-F8FC-4E8B-A6E2-D676247AC42A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</a:t>
            </a:r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onceito de Mudança</a:t>
            </a:r>
          </a:p>
        </p:txBody>
      </p:sp>
    </p:spTree>
    <p:extLst>
      <p:ext uri="{BB962C8B-B14F-4D97-AF65-F5344CB8AC3E}">
        <p14:creationId xmlns:p14="http://schemas.microsoft.com/office/powerpoint/2010/main" val="61555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C5EAE72-3D24-4A03-9BDF-FBE8C100A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5" y="396836"/>
            <a:ext cx="4992158" cy="6058999"/>
            <a:chOff x="423335" y="396836"/>
            <a:chExt cx="4992158" cy="605899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76F2A6D-EB50-477B-BD17-230CCC88F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5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8FBA8B6C-1D72-481E-A101-FBBBF888B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170217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46FCD9A8-07DA-4FCE-B3CC-44762A40BD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3545327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3" name="Retângulo 12">
            <a:extLst>
              <a:ext uri="{FF2B5EF4-FFF2-40B4-BE49-F238E27FC236}">
                <a16:creationId xmlns:a16="http://schemas.microsoft.com/office/drawing/2014/main" id="{3C1A21BD-65C9-44AB-9B4D-6ECBA9C391E9}"/>
              </a:ext>
            </a:extLst>
          </p:cNvPr>
          <p:cNvSpPr/>
          <p:nvPr/>
        </p:nvSpPr>
        <p:spPr>
          <a:xfrm>
            <a:off x="6338886" y="2216075"/>
            <a:ext cx="4483413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13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Fim</a:t>
            </a:r>
            <a:endParaRPr lang="pt-PT" sz="138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822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9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910" fill="hold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12" decel="50000" autoRev="1" fill="hold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72" fill="hold">
                                          <p:stCondLst>
                                            <p:cond delay="172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ão de Ião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75F661E2E91443BE1FD587B47D580C" ma:contentTypeVersion="5" ma:contentTypeDescription="Create a new document." ma:contentTypeScope="" ma:versionID="63162ae31facc43e2d9e261c47ccb6f0">
  <xsd:schema xmlns:xsd="http://www.w3.org/2001/XMLSchema" xmlns:xs="http://www.w3.org/2001/XMLSchema" xmlns:p="http://schemas.microsoft.com/office/2006/metadata/properties" xmlns:ns3="60d1d0c2-37af-4b39-925a-c014d9a04795" targetNamespace="http://schemas.microsoft.com/office/2006/metadata/properties" ma:root="true" ma:fieldsID="5498c84b0d7e9e96fc12555092c47501" ns3:_="">
    <xsd:import namespace="60d1d0c2-37af-4b39-925a-c014d9a0479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d1d0c2-37af-4b39-925a-c014d9a047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151F40-8F50-4D6D-AFA5-574CA53751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3C6A39-EFAF-42A2-A925-1CB3D6B8EA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d1d0c2-37af-4b39-925a-c014d9a047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D55C222-CF54-46A4-B6AD-2C58864A6625}">
  <ds:schemaRefs>
    <ds:schemaRef ds:uri="60d1d0c2-37af-4b39-925a-c014d9a04795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1210</Words>
  <Application>Microsoft Office PowerPoint</Application>
  <PresentationFormat>Ecrã Panorâmico</PresentationFormat>
  <Paragraphs>188</Paragraphs>
  <Slides>33</Slides>
  <Notes>17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33</vt:i4>
      </vt:variant>
    </vt:vector>
  </HeadingPairs>
  <TitlesOfParts>
    <vt:vector size="40" baseType="lpstr">
      <vt:lpstr>Arial</vt:lpstr>
      <vt:lpstr>Calibri</vt:lpstr>
      <vt:lpstr>Century Gothic</vt:lpstr>
      <vt:lpstr>Tahoma</vt:lpstr>
      <vt:lpstr>Wingdings</vt:lpstr>
      <vt:lpstr>Wingdings 3</vt:lpstr>
      <vt:lpstr>Sala de Reunião de Ião</vt:lpstr>
      <vt:lpstr>TesP  Projeto de Moldes  2019/2020  1ºano 2ºsem</vt:lpstr>
      <vt:lpstr>Apresentação do PowerPoint</vt:lpstr>
      <vt:lpstr>Injeção de Espuma Estrutural</vt:lpstr>
      <vt:lpstr>Injeção de Espuma Estrutural </vt:lpstr>
      <vt:lpstr>Modos de pensamento criativo </vt:lpstr>
      <vt:lpstr>Modos de pensamento criativo </vt:lpstr>
      <vt:lpstr>Ferramentas não assentes em conceitos</vt:lpstr>
      <vt:lpstr>Ferramentas não assentes em conceitos</vt:lpstr>
      <vt:lpstr>Ferramentas não assentes em conceitos</vt:lpstr>
      <vt:lpstr>Ferramentas não assentes em conceitos</vt:lpstr>
      <vt:lpstr>Processo do Pensamento Criativo</vt:lpstr>
      <vt:lpstr>Ferramentas não assentes em conceitos</vt:lpstr>
      <vt:lpstr>Ferramentas não assentes em conceitos</vt:lpstr>
      <vt:lpstr>Ferramentas não assentes em conceitos</vt:lpstr>
      <vt:lpstr>Ferramentas não assentes em conceitos</vt:lpstr>
      <vt:lpstr>Ferramentas não assentes em conceitos</vt:lpstr>
      <vt:lpstr>Ferramentas não assentes em conceitos</vt:lpstr>
      <vt:lpstr>Ferramentas não assentes em conceitos</vt:lpstr>
      <vt:lpstr>Ferramentas não assentes em conceitos</vt:lpstr>
      <vt:lpstr>Ferramentas assentes em conceitos</vt:lpstr>
      <vt:lpstr>Ferramentas assentes em conceitos</vt:lpstr>
      <vt:lpstr>Ferramentas assentes em conceitos</vt:lpstr>
      <vt:lpstr>Ferramentas assentes em conceitos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Metodologias alternativas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TesP  Projeto de moldes  CTI</dc:title>
  <dc:creator>Vìtor Hugo Rodrigues Antunes</dc:creator>
  <cp:lastModifiedBy>Vìtor Hugo Rodrigues Antunes</cp:lastModifiedBy>
  <cp:revision>34</cp:revision>
  <dcterms:created xsi:type="dcterms:W3CDTF">2019-10-22T00:22:35Z</dcterms:created>
  <dcterms:modified xsi:type="dcterms:W3CDTF">2020-03-09T23:28:17Z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0x0101008F75F661E2E91443BE1FD587B47D580C</vt:lpwstr>
  </property>
</Properties>
</file>